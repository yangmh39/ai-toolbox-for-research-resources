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notesSlides/notesSlide1.xml" Type="http://schemas.openxmlformats.org/officeDocument/2006/relationships/notesSlide"/><Relationship Id="rId4" Target="slideMasters/slideMaster1.xml" Type="http://schemas.openxmlformats.org/officeDocument/2006/relationships/slideMaster"/><Relationship Id="rId40" Target="notesSlides/notesSlide2.xml" Type="http://schemas.openxmlformats.org/officeDocument/2006/relationships/notesSlide"/><Relationship Id="rId41" Target="notesSlides/notesSlide3.xml" Type="http://schemas.openxmlformats.org/officeDocument/2006/relationships/notesSlide"/><Relationship Id="rId42" Target="notesSlides/notesSlide4.xml" Type="http://schemas.openxmlformats.org/officeDocument/2006/relationships/notesSlide"/><Relationship Id="rId43" Target="notesSlides/notesSlide5.xml" Type="http://schemas.openxmlformats.org/officeDocument/2006/relationships/notesSlide"/><Relationship Id="rId44" Target="notesSlides/notesSlide6.xml" Type="http://schemas.openxmlformats.org/officeDocument/2006/relationships/notesSlide"/><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notesMasters/notesMaster1.xml" Type="http://schemas.openxmlformats.org/officeDocument/2006/relationships/notesMaster"/><Relationship Id="rId60" Target="notesSlides/notesSlide22.xml" Type="http://schemas.openxmlformats.org/officeDocument/2006/relationships/notesSlide"/><Relationship Id="rId61" Target="notesSlides/notesSlide23.xml" Type="http://schemas.openxmlformats.org/officeDocument/2006/relationships/notesSlide"/><Relationship Id="rId62" Target="notesSlides/notesSlide24.xml" Type="http://schemas.openxmlformats.org/officeDocument/2006/relationships/notesSlide"/><Relationship Id="rId63" Target="notesSlides/notesSlide25.xml" Type="http://schemas.openxmlformats.org/officeDocument/2006/relationships/notesSlide"/><Relationship Id="rId64" Target="notesSlides/notesSlide26.xml" Type="http://schemas.openxmlformats.org/officeDocument/2006/relationships/notesSlide"/><Relationship Id="rId65" Target="notesSlides/notesSlide27.xml" Type="http://schemas.openxmlformats.org/officeDocument/2006/relationships/notesSlide"/><Relationship Id="rId66" Target="notesSlides/notesSlide28.xml" Type="http://schemas.openxmlformats.org/officeDocument/2006/relationships/notesSlide"/><Relationship Id="rId67" Target="notesSlides/notesSlide29.xml" Type="http://schemas.openxmlformats.org/officeDocument/2006/relationships/notesSlide"/><Relationship Id="rId68" Target="notesSlides/notesSlide30.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Welcome to "The AI Research Toolbox." In this first chapter, we will embark on a journey to demystify Artificial Intelligence. We'll explore what AI truly is, distinguish it from related fields like Machine Learning, and discover its incredible capabilities in the real world. By the end of this chapter, you'll have a solid foundation to understand and even start exploring AI yourself.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Here's what we aim to achieve in this chapter. By the end, you'll not only be able to define AI, ML, and DL, but also tell them apart. You'll discover AI applications in your own areas of interest, get hands-on experience with Kaggle datasets, and most importantly, understand AI as a powerful tool for research and discovery. Let's get started.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start with a simple exercise. Close your eyes and think about Artificial Intelligence. What image pops into your head? Is it a robot like the Terminator? Or perhaps a more benign character like WALL-E? These Hollywood portrayals have shaped our perception, but the reality of AI is far more integrated into our daily lives than we might think. It's not always about robots; it's about the invisible technology that powers our world.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AI is already here, often hiding in plain sight. It's the engine behind your Netflix recommendations, the creator of your personalized Spotify playlists, and the reason your phone unlocks with just a glance. It's the technology that predicts traffic on Google Maps and filters out spam from your inbox. These everyday conveniences are all powered by AI, making it an integral part of our modern infrastructure.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what is AI formally? It's a broad field focused on creating systems capable of tasks that typically need human smarts—like recognizing patterns, making decisions, understanding language, and learning from experience. The crucial distinction is that this intelligence is artificial; it's built from code and circuits, not flesh and blood.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You've probably heard AI, Machine Learning, and Deep Learning thrown around. Let's clarify their relationship. Imagine a set of nested circles. AI is the largest circle, the broadest concept. Inside it is Machine Learning, a specific approach where systems learn from data. And inside Machine Learning is Deep Learning, a powerful technique using layered neural networks. Understanding this hierarchy is key.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visual perfectly captures the relationship: AI is the umbrella term, encompassing Machine Learning, which in turn includes Deep Learning. Traditional AI might use rigid rules, like an old chess program. Machine Learning, like modern spam filters, learns from examples. And Deep Learning, the star of today's news, powers cutting-edge applications like ChatGPT and self-driving car vision.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AI has a rich history. It started with rule-based systems in the mid-20th century, which were limited. Then came Machine Learning, where algorithms learned from data. The real game-changer was the Deep Learning revolution starting around 2012, fueled by AlexNet's success. Most recently, we've entered the Generative AI era, with models like ChatGPT showcasing incredible new abilities.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why the sudden explosion in AI capabilities? It wasn't a single breakthrough, but a perfect storm of three factors. First, we have Big Data—an ocean of digital information for AI to learn from. Second, powerful GPUs, originally for gaming, provide the computing muscle to train these complex models. And third, crucial algorithmic breakthroughs made deep learning feasible. Together, they created the AI revolution we're witnessing today.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break down these three drivers. Big Data is the raw material—every click, photo, and transaction feeds the AI engine. GPUs are the factory, providing the massive parallel processing power needed to train models quickly and efficiently. And algorithms like ReLU, Dropout, and the Transformer architecture are the blueprints, making it possible to build deeper, more powerful, and more reliable AI systems than ever before.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Now that we understand the "why" behind AI's rise, let's explore the "where." AI is not confined to tech companies or research labs. It's making a profound impact across nearly every industry you can imagine, from healthcare and transportation to finance, environmental science, entertainment, and fundamental research. Let's take a quick tour.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healthcare, AI is a lifesaver. It can analyze medical images with superhuman accuracy, helping doctors detect diseases like cancer earlier. It can predict when a patient's condition might worsen, allowing for proactive care. It's also revolutionizing drug discovery, speeding up the search for new treatments. Even prosthetic limbs are getting smarter, learning and adapting to their users thanks to 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transportation, AI is steering us into the future. Autonomous vehicles from companies like Waymo are already navigating city streets, their AI "eyes" constantly analyzing the world around them. Beyond self-driving cars, AI optimizes delivery routes, reducing fuel consumption and costs. It also manages traffic lights in smart cities and even predicts flight delays, making travel more efficient and predictable.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AI is also making waves in finance and environmental protection. In finance, it's the silent guardian against fraud, analyzing millions of transactions in real-time. It's also the engine behind high-speed algorithmic trading and more accurate credit scoring. For the environment, AI is a powerful tool for predicting weather, monitoring deforestation from space, and optimizing energy grids to integrate more renewable power.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entertainment, AI keeps us engaged with personalized recommendations on Netflix and creates dynamic, challenging opponents in video games. But perhaps most profoundly, AI is accelerating scientific discovery. Google's DeepMind solved a 50-year-old biology problem with AlphaFold, predicting protein structures. It's also helping physicists sift through data from the Large Hadron Collider and astronomers find new planets.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Now it's your turn. Take a moment to think about a field you're passionate about—maybe sports, music, art, or gaming. Spend just five minutes searching for "AI in [your domain]". You'll be amazed at what you find. Try to identify one application, understand its input and output, and think about why it's important. This simple exercise is the first step in building your own map of AI applications.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make learning concrete, we'll use a single, powerful case study throughout this book: teaching a self-driving car to see. This problem of autonomous vehicle perception is ideal because it's visual—we can literally see what the AI is trying to do. It's intuitive—we all understand the goal is to drive safely. And it's comprehensive, touching on every aspect of an AI research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 self-driving car's AI brain has three core jobs. First, Perception—it needs to "see" the world using sensors like cameras and lidar, identifying objects and their positions. Second, Prediction—it must forecast what those objects might do next, like predicting if a pedestrian will cross the street. Finally, Planning—based on what it sees and predicts, it decides the safest course of action: brake, accelerate, or steer.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this book, we'll focus primarily on perception—the "eyes" of the self-driving car. This is the foundation; if the car can't see accurately, everything else fails. It's also the most visual part of the problem, making it easier to grasp complex AI concepts. Every topic we cover will tie back to this goal of teaching a car to see the world around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Teaching a car to see is no easy task. The real world is messy and unpredictable. Pedestrians and other drivers don't follow strict rules. Lighting changes from bright daylight to pitch-black night. Weather like rain or fog can obscure vision. Objects can be tiny when far away or hidden behind other things. These challenges are what make AV perception such a fascinating and important area of AI research.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truly understand AI, we need to look at its fuel: data. Kaggle is the premier platform for data science, a treasure trove of datasets and challenges. We'll take a tour of five different datasets to see the variety of problems AI can solve. As we go, keep these three questions in mind: What's the input? What's the desired output? And what does success look like for this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First stop: healthcare and climate. The first dataset uses chest X-rays to classify patients as either normal or having pneumonia—a classic classification problem. The second uses historical temperature data to forecast future climate trends—a regression problem. Both demonstrate how AI can turn raw data into actionable insights for critical global issues.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Next, we move to finance and sports. The credit card fraud dataset is a tough one—fraudulent transactions are extremely rare, making it an imbalanced classification problem. The FIFA dataset shows how AI can predict a player's market value based on their attributes, a regression or ranking task. These examples highlight AI's versatility across different industries.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Our final dataset brings us back to our anchor case study: autonomous driving. This dataset contains road images with labeled bounding boxes around cars, pedestrians, and traffic lights. This is a classic object detection problem, and this is the kind of data we'll be working with to teach our virtual car to see.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What's the common thread across all these diverse datasets? Every AI project boils down to three fundamental questions. First, what is the input data? Second, what output do we want to produce? And third, how do we measure success? Mastering these three questions is the first step in defining any AI problem effectively.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brings us to the most important idea of this chapter: AI is not just something we study; it's a tool we can use to study other things. Like the microscope for biology or the telescope for astronomy, AI is a new kind of research instrument. The goal of this book is to teach you how to use this instrument—to ask good questions, find the right data, apply the right models, and interpret the results.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Now it's time to put your knowledge into practice. Here are three exercises to help you solidify what you've learned. Start by building your own AI application map. Then, dive into Kaggle to explore real datasets. Finally, challenge yourself to think like a researcher and formulate a specific question you could answer with that data. These exercises are designed to turn passive learning into active engagement.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quickly recap what we've covered in Chapter 1. We've clarified the relationship between AI, ML, and DL. We've seen that AI is already deeply integrated into our world across countless industries. We've focused on perception as our core case study. We've learned to frame any AI problem by asking about input, output, and success. And most importantly, we've embraced AI as a powerful new research tool.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what's next? In Chapter 2, we'll tackle the most crucial step in any research project: asking the right question. We'll learn how to distinguish between good and bad research questions, use a framework called the "Question Ladder," and practice crafting our own. This is where the real journey of discovery begins.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That concludes Chapter 1. Thank you for your attention. Now, I'd like to open the floor for any questions or discussion. What was the most surprising thing you learned today? Or is there any part you'd like to explore further?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jpeg" Type="http://schemas.openxmlformats.org/officeDocument/2006/relationships/image"/><Relationship Id="rId11" Target="../notesSlides/notesSlide3.xml" Type="http://schemas.openxmlformats.org/officeDocument/2006/relationships/notesSlide"/><Relationship Id="rId2" Target="../media/image2.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9.jpeg" Type="http://schemas.openxmlformats.org/officeDocument/2006/relationships/image"/><Relationship Id="rId4" Target="../media/image20.jpeg" Type="http://schemas.openxmlformats.org/officeDocument/2006/relationships/image"/><Relationship Id="rId5" Target="../media/image21.jpeg" Type="http://schemas.openxmlformats.org/officeDocument/2006/relationships/image"/><Relationship Id="rId6"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notesSlides/notesSlide5.xml" Type="http://schemas.openxmlformats.org/officeDocument/2006/relationships/notesSlide"/><Relationship Id="rId2" Target="../media/image2.jpeg" Type="http://schemas.openxmlformats.org/officeDocument/2006/relationships/image"/><Relationship Id="rId3" Target="../media/image22.jpe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3.jpeg" Type="http://schemas.openxmlformats.org/officeDocument/2006/relationships/image"/><Relationship Id="rId4"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4.jpeg" Type="http://schemas.openxmlformats.org/officeDocument/2006/relationships/image"/><Relationship Id="rId4" Target="../media/image35.jpeg" Type="http://schemas.openxmlformats.org/officeDocument/2006/relationships/image"/><Relationship Id="rId5"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2.jpeg" Type="http://schemas.openxmlformats.org/officeDocument/2006/relationships/image"/><Relationship Id="rId4" Target="../media/image43.jpeg" Type="http://schemas.openxmlformats.org/officeDocument/2006/relationships/image"/><Relationship Id="rId5" Target="../media/image44.jpeg" Type="http://schemas.openxmlformats.org/officeDocument/2006/relationships/image"/><Relationship Id="rId6"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2.svg" Type="http://schemas.openxmlformats.org/officeDocument/2006/relationships/image"/><Relationship Id="rId11" Target="../media/image53.png" Type="http://schemas.openxmlformats.org/officeDocument/2006/relationships/image"/><Relationship Id="rId12" Target="../media/image54.svg" Type="http://schemas.openxmlformats.org/officeDocument/2006/relationships/image"/><Relationship Id="rId13" Target="../media/image9.png" Type="http://schemas.openxmlformats.org/officeDocument/2006/relationships/image"/><Relationship Id="rId14" Target="../media/image10.svg" Type="http://schemas.openxmlformats.org/officeDocument/2006/relationships/image"/><Relationship Id="rId15" Target="../notesSlides/notesSlide11.xml" Type="http://schemas.openxmlformats.org/officeDocument/2006/relationships/notesSlide"/><Relationship Id="rId2" Target="../media/image2.jpe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media/image5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notesSlides/notesSlide12.xml" Type="http://schemas.openxmlformats.org/officeDocument/2006/relationships/notesSlide"/><Relationship Id="rId2" Target="../media/image2.jpeg" Type="http://schemas.openxmlformats.org/officeDocument/2006/relationships/image"/><Relationship Id="rId3" Target="../media/image55.jpeg" Type="http://schemas.openxmlformats.org/officeDocument/2006/relationships/image"/><Relationship Id="rId4" Target="../media/image56.png" Type="http://schemas.openxmlformats.org/officeDocument/2006/relationships/image"/><Relationship Id="rId5" Target="../media/image57.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60.png" Type="http://schemas.openxmlformats.org/officeDocument/2006/relationships/image"/><Relationship Id="rId9" Target="../media/image6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1.png" Type="http://schemas.openxmlformats.org/officeDocument/2006/relationships/image"/><Relationship Id="rId11" Target="../media/image72.svg" Type="http://schemas.openxmlformats.org/officeDocument/2006/relationships/image"/><Relationship Id="rId12" Target="../notesSlides/notesSlide13.xml" Type="http://schemas.openxmlformats.org/officeDocument/2006/relationships/notesSlide"/><Relationship Id="rId2" Target="../media/image2.jpeg" Type="http://schemas.openxmlformats.org/officeDocument/2006/relationships/image"/><Relationship Id="rId3" Target="../media/image64.jpe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0.jpeg" Type="http://schemas.openxmlformats.org/officeDocument/2006/relationships/image"/><Relationship Id="rId11" Target="../media/image81.png" Type="http://schemas.openxmlformats.org/officeDocument/2006/relationships/image"/><Relationship Id="rId12" Target="../media/image82.svg" Type="http://schemas.openxmlformats.org/officeDocument/2006/relationships/image"/><Relationship Id="rId13" Target="../media/image83.png" Type="http://schemas.openxmlformats.org/officeDocument/2006/relationships/image"/><Relationship Id="rId14" Target="../media/image84.svg" Type="http://schemas.openxmlformats.org/officeDocument/2006/relationships/image"/><Relationship Id="rId15" Target="../media/image85.png" Type="http://schemas.openxmlformats.org/officeDocument/2006/relationships/image"/><Relationship Id="rId16" Target="../media/image86.svg" Type="http://schemas.openxmlformats.org/officeDocument/2006/relationships/image"/><Relationship Id="rId17" Target="../notesSlides/notesSlide14.xml" Type="http://schemas.openxmlformats.org/officeDocument/2006/relationships/notesSlide"/><Relationship Id="rId2" Target="../media/image2.jpeg" Type="http://schemas.openxmlformats.org/officeDocument/2006/relationships/image"/><Relationship Id="rId3" Target="../media/image73.jpeg" Type="http://schemas.openxmlformats.org/officeDocument/2006/relationships/image"/><Relationship Id="rId4" Target="../media/image74.png" Type="http://schemas.openxmlformats.org/officeDocument/2006/relationships/image"/><Relationship Id="rId5" Target="../media/image75.svg" Type="http://schemas.openxmlformats.org/officeDocument/2006/relationships/image"/><Relationship Id="rId6" Target="../media/image76.png" Type="http://schemas.openxmlformats.org/officeDocument/2006/relationships/image"/><Relationship Id="rId7" Target="../media/image77.svg" Type="http://schemas.openxmlformats.org/officeDocument/2006/relationships/image"/><Relationship Id="rId8" Target="../media/image78.png" Type="http://schemas.openxmlformats.org/officeDocument/2006/relationships/image"/><Relationship Id="rId9" Target="../media/image7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87.jpeg" Type="http://schemas.openxmlformats.org/officeDocument/2006/relationships/image"/><Relationship Id="rId4" Target="../media/image88.jpeg" Type="http://schemas.openxmlformats.org/officeDocument/2006/relationships/image"/><Relationship Id="rId5"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8.svg" Type="http://schemas.openxmlformats.org/officeDocument/2006/relationships/image"/><Relationship Id="rId11" Target="../media/image91.png" Type="http://schemas.openxmlformats.org/officeDocument/2006/relationships/image"/><Relationship Id="rId12" Target="../media/image92.svg" Type="http://schemas.openxmlformats.org/officeDocument/2006/relationships/image"/><Relationship Id="rId13" Target="../notesSlides/notesSlide16.xml" Type="http://schemas.openxmlformats.org/officeDocument/2006/relationships/notesSlide"/><Relationship Id="rId2" Target="../media/image2.jpeg" Type="http://schemas.openxmlformats.org/officeDocument/2006/relationships/image"/><Relationship Id="rId3" Target="../media/image89.png" Type="http://schemas.openxmlformats.org/officeDocument/2006/relationships/image"/><Relationship Id="rId4" Target="../media/image90.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7.xml" Type="http://schemas.openxmlformats.org/officeDocument/2006/relationships/notesSlide"/><Relationship Id="rId2" Target="../media/image2.jpeg" Type="http://schemas.openxmlformats.org/officeDocument/2006/relationships/image"/><Relationship Id="rId3" Target="../media/image93.jpeg" Type="http://schemas.openxmlformats.org/officeDocument/2006/relationships/image"/><Relationship Id="rId4" Target="../media/image94.png" Type="http://schemas.openxmlformats.org/officeDocument/2006/relationships/image"/><Relationship Id="rId5" Target="../media/image95.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8.xml" Type="http://schemas.openxmlformats.org/officeDocument/2006/relationships/notesSlide"/><Relationship Id="rId2" Target="../media/image2.jpeg" Type="http://schemas.openxmlformats.org/officeDocument/2006/relationships/image"/><Relationship Id="rId3" Target="../media/image96.png" Type="http://schemas.openxmlformats.org/officeDocument/2006/relationships/image"/><Relationship Id="rId4" Target="../media/image97.svg" Type="http://schemas.openxmlformats.org/officeDocument/2006/relationships/image"/><Relationship Id="rId5" Target="../media/image98.png" Type="http://schemas.openxmlformats.org/officeDocument/2006/relationships/image"/><Relationship Id="rId6" Target="../media/image99.svg" Type="http://schemas.openxmlformats.org/officeDocument/2006/relationships/image"/><Relationship Id="rId7" Target="../media/image100.png" Type="http://schemas.openxmlformats.org/officeDocument/2006/relationships/image"/><Relationship Id="rId8" Target="../media/image101.svg" Type="http://schemas.openxmlformats.org/officeDocument/2006/relationships/image"/><Relationship Id="rId9" Target="../media/image10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9.xml" Type="http://schemas.openxmlformats.org/officeDocument/2006/relationships/notesSlide"/><Relationship Id="rId2" Target="../media/image2.jpeg" Type="http://schemas.openxmlformats.org/officeDocument/2006/relationships/image"/><Relationship Id="rId3" Target="../media/image103.jpeg" Type="http://schemas.openxmlformats.org/officeDocument/2006/relationships/image"/><Relationship Id="rId4" Target="../media/image96.png" Type="http://schemas.openxmlformats.org/officeDocument/2006/relationships/image"/><Relationship Id="rId5" Target="../media/image97.svg" Type="http://schemas.openxmlformats.org/officeDocument/2006/relationships/image"/><Relationship Id="rId6" Target="../media/image94.png" Type="http://schemas.openxmlformats.org/officeDocument/2006/relationships/image"/><Relationship Id="rId7" Target="../media/image95.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9.png" Type="http://schemas.openxmlformats.org/officeDocument/2006/relationships/image"/><Relationship Id="rId11" Target="../media/image110.svg" Type="http://schemas.openxmlformats.org/officeDocument/2006/relationships/image"/><Relationship Id="rId12" Target="../notesSlides/notesSlide20.xml" Type="http://schemas.openxmlformats.org/officeDocument/2006/relationships/notesSlide"/><Relationship Id="rId2" Target="../media/image2.jpeg" Type="http://schemas.openxmlformats.org/officeDocument/2006/relationships/image"/><Relationship Id="rId3" Target="../media/image104.jpeg" Type="http://schemas.openxmlformats.org/officeDocument/2006/relationships/image"/><Relationship Id="rId4" Target="../media/image105.png" Type="http://schemas.openxmlformats.org/officeDocument/2006/relationships/image"/><Relationship Id="rId5" Target="../media/image106.svg" Type="http://schemas.openxmlformats.org/officeDocument/2006/relationships/image"/><Relationship Id="rId6" Target="../media/image107.png" Type="http://schemas.openxmlformats.org/officeDocument/2006/relationships/image"/><Relationship Id="rId7" Target="../media/image108.svg" Type="http://schemas.openxmlformats.org/officeDocument/2006/relationships/image"/><Relationship Id="rId8" Target="../media/image89.png" Type="http://schemas.openxmlformats.org/officeDocument/2006/relationships/image"/><Relationship Id="rId9" Target="../media/image9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1.xml" Type="http://schemas.openxmlformats.org/officeDocument/2006/relationships/notesSlide"/><Relationship Id="rId2" Target="../media/image2.jpeg" Type="http://schemas.openxmlformats.org/officeDocument/2006/relationships/image"/><Relationship Id="rId3" Target="../media/image111.jpeg" Type="http://schemas.openxmlformats.org/officeDocument/2006/relationships/image"/><Relationship Id="rId4" Target="../media/image112.png" Type="http://schemas.openxmlformats.org/officeDocument/2006/relationships/image"/><Relationship Id="rId5" Target="../media/image113.svg" Type="http://schemas.openxmlformats.org/officeDocument/2006/relationships/image"/><Relationship Id="rId6" Target="../media/image114.png" Type="http://schemas.openxmlformats.org/officeDocument/2006/relationships/image"/><Relationship Id="rId7" Target="../media/image115.svg" Type="http://schemas.openxmlformats.org/officeDocument/2006/relationships/image"/><Relationship Id="rId8" Target="../media/image116.png" Type="http://schemas.openxmlformats.org/officeDocument/2006/relationships/image"/><Relationship Id="rId9" Target="../media/image11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18.jpeg" Type="http://schemas.openxmlformats.org/officeDocument/2006/relationships/image"/><Relationship Id="rId4" Target="../media/image80.jpeg" Type="http://schemas.openxmlformats.org/officeDocument/2006/relationships/image"/><Relationship Id="rId5"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19.jpeg" Type="http://schemas.openxmlformats.org/officeDocument/2006/relationships/image"/><Relationship Id="rId4" Target="../media/image87.jpeg" Type="http://schemas.openxmlformats.org/officeDocument/2006/relationships/image"/><Relationship Id="rId5"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6.png" Type="http://schemas.openxmlformats.org/officeDocument/2006/relationships/image"/><Relationship Id="rId11" Target="../media/image117.svg" Type="http://schemas.openxmlformats.org/officeDocument/2006/relationships/image"/><Relationship Id="rId12" Target="../notesSlides/notesSlide24.xml" Type="http://schemas.openxmlformats.org/officeDocument/2006/relationships/notesSlide"/><Relationship Id="rId2" Target="../media/image2.jpeg" Type="http://schemas.openxmlformats.org/officeDocument/2006/relationships/image"/><Relationship Id="rId3" Target="../media/image93.jpeg" Type="http://schemas.openxmlformats.org/officeDocument/2006/relationships/image"/><Relationship Id="rId4" Target="../media/image120.png" Type="http://schemas.openxmlformats.org/officeDocument/2006/relationships/image"/><Relationship Id="rId5" Target="../media/image121.svg" Type="http://schemas.openxmlformats.org/officeDocument/2006/relationships/image"/><Relationship Id="rId6" Target="../media/image122.png" Type="http://schemas.openxmlformats.org/officeDocument/2006/relationships/image"/><Relationship Id="rId7" Target="../media/image123.svg" Type="http://schemas.openxmlformats.org/officeDocument/2006/relationships/image"/><Relationship Id="rId8" Target="../media/image89.png" Type="http://schemas.openxmlformats.org/officeDocument/2006/relationships/image"/><Relationship Id="rId9" Target="../media/image90.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24.png" Type="http://schemas.openxmlformats.org/officeDocument/2006/relationships/image"/><Relationship Id="rId4" Target="../media/image125.svg" Type="http://schemas.openxmlformats.org/officeDocument/2006/relationships/image"/><Relationship Id="rId5" Target="../media/image114.png" Type="http://schemas.openxmlformats.org/officeDocument/2006/relationships/image"/><Relationship Id="rId6" Target="../media/image115.svg" Type="http://schemas.openxmlformats.org/officeDocument/2006/relationships/image"/><Relationship Id="rId7" Target="../media/image116.png" Type="http://schemas.openxmlformats.org/officeDocument/2006/relationships/image"/><Relationship Id="rId8" Target="../media/image117.svg" Type="http://schemas.openxmlformats.org/officeDocument/2006/relationships/image"/><Relationship Id="rId9"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0.svg" Type="http://schemas.openxmlformats.org/officeDocument/2006/relationships/image"/><Relationship Id="rId11" Target="../notesSlides/notesSlide26.xml" Type="http://schemas.openxmlformats.org/officeDocument/2006/relationships/notesSlide"/><Relationship Id="rId2" Target="../media/image2.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126.png" Type="http://schemas.openxmlformats.org/officeDocument/2006/relationships/image"/><Relationship Id="rId6" Target="../media/image127.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2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91.png" Type="http://schemas.openxmlformats.org/officeDocument/2006/relationships/image"/><Relationship Id="rId4" Target="../media/image92.svg" Type="http://schemas.openxmlformats.org/officeDocument/2006/relationships/image"/><Relationship Id="rId5" Target="../media/image128.png" Type="http://schemas.openxmlformats.org/officeDocument/2006/relationships/image"/><Relationship Id="rId6" Target="../media/image129.svg" Type="http://schemas.openxmlformats.org/officeDocument/2006/relationships/image"/><Relationship Id="rId7" Target="../media/image130.png" Type="http://schemas.openxmlformats.org/officeDocument/2006/relationships/image"/><Relationship Id="rId8" Target="../media/image131.svg" Type="http://schemas.openxmlformats.org/officeDocument/2006/relationships/image"/><Relationship Id="rId9"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37.svg" Type="http://schemas.openxmlformats.org/officeDocument/2006/relationships/image"/><Relationship Id="rId11" Target="../media/image60.png" Type="http://schemas.openxmlformats.org/officeDocument/2006/relationships/image"/><Relationship Id="rId12" Target="../media/image61.svg" Type="http://schemas.openxmlformats.org/officeDocument/2006/relationships/image"/><Relationship Id="rId13" Target="../notesSlides/notesSlide28.xml" Type="http://schemas.openxmlformats.org/officeDocument/2006/relationships/notesSlide"/><Relationship Id="rId2" Target="../media/image2.jpe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132.png" Type="http://schemas.openxmlformats.org/officeDocument/2006/relationships/image"/><Relationship Id="rId6" Target="../media/image133.svg" Type="http://schemas.openxmlformats.org/officeDocument/2006/relationships/image"/><Relationship Id="rId7" Target="../media/image134.png" Type="http://schemas.openxmlformats.org/officeDocument/2006/relationships/image"/><Relationship Id="rId8" Target="../media/image135.svg" Type="http://schemas.openxmlformats.org/officeDocument/2006/relationships/image"/><Relationship Id="rId9" Target="../media/image13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89.png" Type="http://schemas.openxmlformats.org/officeDocument/2006/relationships/image"/><Relationship Id="rId4" Target="../media/image90.svg" Type="http://schemas.openxmlformats.org/officeDocument/2006/relationships/image"/><Relationship Id="rId5" Target="../media/image138.png" Type="http://schemas.openxmlformats.org/officeDocument/2006/relationships/image"/><Relationship Id="rId6" Target="../media/image139.svg" Type="http://schemas.openxmlformats.org/officeDocument/2006/relationships/image"/><Relationship Id="rId7" Target="../media/image140.png" Type="http://schemas.openxmlformats.org/officeDocument/2006/relationships/image"/><Relationship Id="rId8" Target="../media/image141.svg" Type="http://schemas.openxmlformats.org/officeDocument/2006/relationships/image"/><Relationship Id="rId9"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42.jpeg" Type="http://schemas.openxmlformats.org/officeDocument/2006/relationships/image"/><Relationship Id="rId3" Target="../notesSlides/notesSlide30.xml" Type="http://schemas.openxmlformats.org/officeDocument/2006/relationships/notesSlide"/><Relationship Id="rId4" Target="../media/image14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095500"/>
            <a:ext cx="12192000" cy="190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微软雅黑"/>
                <a:ea typeface="微软雅黑"/>
                <a:cs typeface="微软雅黑"/>
                <a:sym typeface="微软雅黑"/>
              </a:rPr>
              <a:t>The AI Research Toolbox:</a:t>
            </a:r>
            <a:r>
              <a:rPr lang="en-US" b="true" i="false" strike="noStrike" u="none" sz="4800">
                <a:solidFill>
                  <a:srgbClr val="FFFFFF"/>
                </a:solidFill>
                <a:latin typeface="微软雅黑"/>
                <a:ea typeface="微软雅黑"/>
                <a:cs typeface="微软雅黑"/>
                <a:sym typeface="微软雅黑"/>
              </a:rPr>
              <a:t/>
            </a:r>
            <a:br>
              <a:rPr lang="en-US" b="true" i="false" strike="noStrike" u="none" sz="4800">
                <a:solidFill>
                  <a:srgbClr val="FFFFFF"/>
                </a:solidFill>
                <a:latin typeface="微软雅黑"/>
                <a:ea typeface="微软雅黑"/>
                <a:cs typeface="微软雅黑"/>
                <a:sym typeface="微软雅黑"/>
              </a:rPr>
            </a:br>
            <a:r>
              <a:rPr lang="en-US" b="true" i="false" strike="noStrike" u="none" sz="4800">
                <a:solidFill>
                  <a:srgbClr val="FFFFFF"/>
                </a:solidFill>
                <a:latin typeface="微软雅黑"/>
                <a:ea typeface="微软雅黑"/>
                <a:cs typeface="微软雅黑"/>
                <a:sym typeface="微软雅黑"/>
              </a:rPr>
              <a:t>A Practical Guide for Students</a:t>
            </a:r>
            <a:endParaRPr lang="en-US" sz="1100"/>
          </a:p>
        </p:txBody>
      </p:sp>
      <p:sp>
        <p:nvSpPr>
          <p:cNvPr name="AutoShape 4" id="4"/>
          <p:cNvSpPr/>
          <p:nvPr/>
        </p:nvSpPr>
        <p:spPr>
          <a:xfrm rot="0" flipH="false" flipV="false">
            <a:off x="3429000" y="4254500"/>
            <a:ext cx="5334000" cy="25400"/>
          </a:xfrm>
          <a:prstGeom prst="roundRect">
            <a:avLst>
              <a:gd name="adj" fmla="val 0"/>
            </a:avLst>
          </a:prstGeom>
          <a:solidFill>
            <a:srgbClr val="22D3EE">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6355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22D3EE"/>
                </a:solidFill>
                <a:latin typeface="微软雅黑"/>
                <a:ea typeface="微软雅黑"/>
                <a:cs typeface="微软雅黑"/>
                <a:sym typeface="微软雅黑"/>
              </a:rPr>
              <a:t>Chapter 1: What is AI? What Can AI Actually Do?</a:t>
            </a:r>
            <a:endParaRPr lang="en-US" sz="1100"/>
          </a:p>
        </p:txBody>
      </p:sp>
      <p:sp>
        <p:nvSpPr>
          <p:cNvPr name="AutoShape 6" id="6"/>
          <p:cNvSpPr/>
          <p:nvPr/>
        </p:nvSpPr>
        <p:spPr>
          <a:xfrm rot="0" flipH="false" flipV="false">
            <a:off x="0" y="5842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FFFFF">
                    <a:alpha val="70196"/>
                  </a:srgbClr>
                </a:solidFill>
                <a:latin typeface="微软雅黑"/>
                <a:ea typeface="微软雅黑"/>
                <a:cs typeface="微软雅黑"/>
                <a:sym typeface="微软雅黑"/>
              </a:rPr>
              <a:t>Merit Point Academy • July 2026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What You Will Learn in This Chapter</a:t>
            </a:r>
            <a:endParaRPr lang="en-US" sz="1100"/>
          </a:p>
        </p:txBody>
      </p:sp>
      <p:sp>
        <p:nvSpPr>
          <p:cNvPr name="AutoShape 4" id="4"/>
          <p:cNvSpPr/>
          <p:nvPr/>
        </p:nvSpPr>
        <p:spPr>
          <a:xfrm rot="0" flipH="false" flipV="false">
            <a:off x="762000" y="2032000"/>
            <a:ext cx="5270500" cy="1841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87500" y="2286000"/>
            <a:ext cx="438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Distinguish Core Concepts</a:t>
            </a:r>
            <a:endParaRPr lang="en-US" sz="1100"/>
          </a:p>
        </p:txBody>
      </p:sp>
      <p:sp>
        <p:nvSpPr>
          <p:cNvPr name="AutoShape 7" id="7"/>
          <p:cNvSpPr/>
          <p:nvPr/>
        </p:nvSpPr>
        <p:spPr>
          <a:xfrm rot="0" flipH="false" flipV="false">
            <a:off x="1016000" y="27940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微软雅黑"/>
                <a:ea typeface="微软雅黑"/>
                <a:cs typeface="微软雅黑"/>
                <a:sym typeface="微软雅黑"/>
              </a:rPr>
              <a:t>Clarify the differences between AI, Machine Learning, and Deep Learning, and identify their distinct real-world applications across various industries.</a:t>
            </a:r>
            <a:endParaRPr lang="en-US" sz="1100"/>
          </a:p>
        </p:txBody>
      </p:sp>
      <p:sp>
        <p:nvSpPr>
          <p:cNvPr name="AutoShape 8" id="8"/>
          <p:cNvSpPr/>
          <p:nvPr/>
        </p:nvSpPr>
        <p:spPr>
          <a:xfrm rot="0" flipH="false" flipV="false">
            <a:off x="6159500" y="2032000"/>
            <a:ext cx="5270500" cy="1841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2286000"/>
            <a:ext cx="406400" cy="406400"/>
          </a:xfrm>
          <a:prstGeom prst="rect">
            <a:avLst/>
          </a:prstGeom>
        </p:spPr>
      </p:pic>
      <p:sp>
        <p:nvSpPr>
          <p:cNvPr name="AutoShape 10" id="10"/>
          <p:cNvSpPr/>
          <p:nvPr/>
        </p:nvSpPr>
        <p:spPr>
          <a:xfrm rot="0" flipH="false" flipV="false">
            <a:off x="6985000" y="2286000"/>
            <a:ext cx="438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Spotlight Real-World AI</a:t>
            </a:r>
            <a:endParaRPr lang="en-US" sz="1100"/>
          </a:p>
        </p:txBody>
      </p:sp>
      <p:sp>
        <p:nvSpPr>
          <p:cNvPr name="AutoShape 11" id="11"/>
          <p:cNvSpPr/>
          <p:nvPr/>
        </p:nvSpPr>
        <p:spPr>
          <a:xfrm rot="0" flipH="false" flipV="false">
            <a:off x="6413500" y="27940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微软雅黑"/>
                <a:ea typeface="微软雅黑"/>
                <a:cs typeface="微软雅黑"/>
                <a:sym typeface="微软雅黑"/>
              </a:rPr>
              <a:t>Discover and analyze at least three impactful AI applications within a domain that sparks your interest, from healthcare to entertainment.</a:t>
            </a:r>
            <a:endParaRPr lang="en-US" sz="1100"/>
          </a:p>
        </p:txBody>
      </p:sp>
      <p:sp>
        <p:nvSpPr>
          <p:cNvPr name="AutoShape 12" id="12"/>
          <p:cNvSpPr/>
          <p:nvPr/>
        </p:nvSpPr>
        <p:spPr>
          <a:xfrm rot="0" flipH="false" flipV="false">
            <a:off x="762000" y="4191000"/>
            <a:ext cx="5270500" cy="1841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445000"/>
            <a:ext cx="406400" cy="406400"/>
          </a:xfrm>
          <a:prstGeom prst="rect">
            <a:avLst/>
          </a:prstGeom>
        </p:spPr>
      </p:pic>
      <p:sp>
        <p:nvSpPr>
          <p:cNvPr name="AutoShape 14" id="14"/>
          <p:cNvSpPr/>
          <p:nvPr/>
        </p:nvSpPr>
        <p:spPr>
          <a:xfrm rot="0" flipH="false" flipV="false">
            <a:off x="1587500" y="4445000"/>
            <a:ext cx="438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Navigate Kaggle Ecosystem</a:t>
            </a:r>
            <a:endParaRPr lang="en-US" sz="1100"/>
          </a:p>
        </p:txBody>
      </p:sp>
      <p:sp>
        <p:nvSpPr>
          <p:cNvPr name="AutoShape 15" id="15"/>
          <p:cNvSpPr/>
          <p:nvPr/>
        </p:nvSpPr>
        <p:spPr>
          <a:xfrm rot="0" flipH="false" flipV="false">
            <a:off x="1016000" y="49530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微软雅黑"/>
                <a:ea typeface="微软雅黑"/>
                <a:cs typeface="微软雅黑"/>
                <a:sym typeface="微软雅黑"/>
              </a:rPr>
              <a:t>Explore Kaggle's dataset repository, learn to evaluate dataset quality, and determine its suitability for your AI project goals.</a:t>
            </a:r>
            <a:endParaRPr lang="en-US" sz="1100"/>
          </a:p>
        </p:txBody>
      </p:sp>
      <p:sp>
        <p:nvSpPr>
          <p:cNvPr name="AutoShape 16" id="16"/>
          <p:cNvSpPr/>
          <p:nvPr/>
        </p:nvSpPr>
        <p:spPr>
          <a:xfrm rot="0" flipH="false" flipV="false">
            <a:off x="6159500" y="4191000"/>
            <a:ext cx="5270500" cy="1841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13500" y="4445000"/>
            <a:ext cx="406400" cy="406400"/>
          </a:xfrm>
          <a:prstGeom prst="rect">
            <a:avLst/>
          </a:prstGeom>
        </p:spPr>
      </p:pic>
      <p:sp>
        <p:nvSpPr>
          <p:cNvPr name="AutoShape 18" id="18"/>
          <p:cNvSpPr/>
          <p:nvPr/>
        </p:nvSpPr>
        <p:spPr>
          <a:xfrm rot="0" flipH="false" flipV="false">
            <a:off x="6985000" y="4445000"/>
            <a:ext cx="438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AI as a Research Instrument</a:t>
            </a:r>
            <a:endParaRPr lang="en-US" sz="1100"/>
          </a:p>
        </p:txBody>
      </p:sp>
      <p:sp>
        <p:nvSpPr>
          <p:cNvPr name="AutoShape 19" id="19"/>
          <p:cNvSpPr/>
          <p:nvPr/>
        </p:nvSpPr>
        <p:spPr>
          <a:xfrm rot="0" flipH="false" flipV="false">
            <a:off x="6413500" y="49530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微软雅黑"/>
                <a:ea typeface="微软雅黑"/>
                <a:cs typeface="微软雅黑"/>
                <a:sym typeface="微软雅黑"/>
              </a:rPr>
              <a:t>Understand how AI serves as a catalyst for scientific discovery, enabling researchers to explore new frontiers of knowledge.</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Close Your Eyes and Picture "Artificial Intelligence"</a:t>
            </a:r>
            <a:endParaRPr lang="en-US" sz="1100"/>
          </a:p>
        </p:txBody>
      </p:sp>
      <p:sp>
        <p:nvSpPr>
          <p:cNvPr name="AutoShape 4" id="4"/>
          <p:cNvSpPr/>
          <p:nvPr/>
        </p:nvSpPr>
        <p:spPr>
          <a:xfrm rot="0" flipH="false" flipV="false">
            <a:off x="762000" y="1905000"/>
            <a:ext cx="533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151"/>
                </a:solidFill>
                <a:latin typeface="微软雅黑"/>
                <a:ea typeface="微软雅黑"/>
                <a:cs typeface="微软雅黑"/>
                <a:sym typeface="微软雅黑"/>
              </a:rPr>
              <a:t>What image pops into your head?</a:t>
            </a:r>
            <a:endParaRPr lang="en-US" sz="1100"/>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2565400"/>
            <a:ext cx="279400" cy="279400"/>
          </a:xfrm>
          <a:prstGeom prst="rect">
            <a:avLst/>
          </a:prstGeom>
        </p:spPr>
      </p:pic>
      <p:sp>
        <p:nvSpPr>
          <p:cNvPr name="AutoShape 6" id="6"/>
          <p:cNvSpPr/>
          <p:nvPr/>
        </p:nvSpPr>
        <p:spPr>
          <a:xfrm rot="0" flipH="false" flipV="false">
            <a:off x="1143000" y="2540000"/>
            <a:ext cx="495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4B5563"/>
                </a:solidFill>
                <a:latin typeface="微软雅黑"/>
                <a:ea typeface="微软雅黑"/>
                <a:cs typeface="微软雅黑"/>
                <a:sym typeface="微软雅黑"/>
              </a:rPr>
              <a:t>A humanoid machine? Like the metallic robots of sci-fi movies?</a:t>
            </a:r>
            <a:endParaRPr lang="en-US" sz="1100"/>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62000" y="3136900"/>
            <a:ext cx="279400" cy="279400"/>
          </a:xfrm>
          <a:prstGeom prst="rect">
            <a:avLst/>
          </a:prstGeom>
        </p:spPr>
      </p:pic>
      <p:sp>
        <p:nvSpPr>
          <p:cNvPr name="AutoShape 8" id="8"/>
          <p:cNvSpPr/>
          <p:nvPr/>
        </p:nvSpPr>
        <p:spPr>
          <a:xfrm rot="0" flipH="false" flipV="false">
            <a:off x="1143000" y="3111500"/>
            <a:ext cx="495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4B5563"/>
                </a:solidFill>
                <a:latin typeface="微软雅黑"/>
                <a:ea typeface="微软雅黑"/>
                <a:cs typeface="微软雅黑"/>
                <a:sym typeface="微软雅黑"/>
              </a:rPr>
              <a:t>A glowing, disembodied brain in a jar—pure, raw superintelligence?</a:t>
            </a:r>
            <a:endParaRPr lang="en-US" sz="1100"/>
          </a:p>
        </p:txBody>
      </p:sp>
      <p:pic>
        <p:nvPicPr>
          <p:cNvPr name="Picture 9" id="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62000" y="3708400"/>
            <a:ext cx="279400" cy="279400"/>
          </a:xfrm>
          <a:prstGeom prst="rect">
            <a:avLst/>
          </a:prstGeom>
        </p:spPr>
      </p:pic>
      <p:sp>
        <p:nvSpPr>
          <p:cNvPr name="AutoShape 10" id="10"/>
          <p:cNvSpPr/>
          <p:nvPr/>
        </p:nvSpPr>
        <p:spPr>
          <a:xfrm rot="0" flipH="false" flipV="false">
            <a:off x="1143000" y="3683000"/>
            <a:ext cx="495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4B5563"/>
                </a:solidFill>
                <a:latin typeface="微软雅黑"/>
                <a:ea typeface="微软雅黑"/>
                <a:cs typeface="微软雅黑"/>
                <a:sym typeface="微软雅黑"/>
              </a:rPr>
              <a:t>A dystopian future where sentient AI rules over humanity?</a:t>
            </a:r>
            <a:endParaRPr lang="en-US" sz="1100"/>
          </a:p>
        </p:txBody>
      </p:sp>
      <p:sp>
        <p:nvSpPr>
          <p:cNvPr name="AutoShape 11" id="11"/>
          <p:cNvSpPr/>
          <p:nvPr/>
        </p:nvSpPr>
        <p:spPr>
          <a:xfrm rot="0" flipH="false" flipV="false">
            <a:off x="762000" y="4318000"/>
            <a:ext cx="533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D3EE"/>
                </a:solidFill>
                <a:latin typeface="微软雅黑"/>
                <a:ea typeface="微软雅黑"/>
                <a:cs typeface="微软雅黑"/>
                <a:sym typeface="微软雅黑"/>
              </a:rPr>
              <a:t>The Reality is Both More Ordinary and More Remarkable.</a:t>
            </a:r>
            <a:endParaRPr lang="en-US" sz="1100"/>
          </a:p>
        </p:txBody>
      </p:sp>
      <p:pic>
        <p:nvPicPr>
          <p:cNvPr name="Picture 12" id="12"/>
          <p:cNvPicPr>
            <a:picLocks noChangeAspect="true"/>
          </p:cNvPicPr>
          <p:nvPr/>
        </p:nvPicPr>
        <p:blipFill>
          <a:blip r:embed="rId9"/>
          <a:srcRect l="9835" r="9835" t="0" b="0"/>
          <a:stretch>
            <a:fillRect/>
          </a:stretch>
        </p:blipFill>
        <p:spPr>
          <a:xfrm rot="0" flipH="false" flipV="false">
            <a:off x="6350000" y="1905000"/>
            <a:ext cx="2603500" cy="2159000"/>
          </a:xfrm>
          <a:prstGeom prst="roundRect">
            <a:avLst>
              <a:gd name="adj" fmla="val 7058"/>
            </a:avLst>
          </a:prstGeom>
          <a:noFill/>
          <a:ln w="25400" cmpd="sng" cap="flat">
            <a:solidFill>
              <a:srgbClr val="FFFFFF">
                <a:alpha val="90000"/>
              </a:srgbClr>
            </a:solidFill>
            <a:prstDash val="solid"/>
            <a:round/>
          </a:ln>
          <a:effectLst>
            <a:outerShdw dir="2700000" dist="76200" blurRad="152400" algn="tl" rotWithShape="false">
              <a:srgbClr val="000000">
                <a:alpha val="12000"/>
              </a:srgbClr>
            </a:outerShdw>
          </a:effectLst>
        </p:spPr>
      </p:pic>
      <p:pic>
        <p:nvPicPr>
          <p:cNvPr name="Picture 13" id="13"/>
          <p:cNvPicPr>
            <a:picLocks noChangeAspect="true"/>
          </p:cNvPicPr>
          <p:nvPr/>
        </p:nvPicPr>
        <p:blipFill>
          <a:blip r:embed="rId10"/>
          <a:srcRect l="0" r="0" t="9106" b="9106"/>
          <a:stretch>
            <a:fillRect/>
          </a:stretch>
        </p:blipFill>
        <p:spPr>
          <a:xfrm rot="0" flipH="false" flipV="false">
            <a:off x="9080500" y="1905000"/>
            <a:ext cx="2603500" cy="2159000"/>
          </a:xfrm>
          <a:prstGeom prst="roundRect">
            <a:avLst>
              <a:gd name="adj" fmla="val 7058"/>
            </a:avLst>
          </a:prstGeom>
          <a:noFill/>
          <a:ln w="25400" cmpd="sng" cap="flat">
            <a:solidFill>
              <a:srgbClr val="FFFFFF">
                <a:alpha val="90000"/>
              </a:srgbClr>
            </a:solidFill>
            <a:prstDash val="solid"/>
            <a:round/>
          </a:ln>
          <a:effectLst>
            <a:outerShdw dir="2700000" dist="76200" blurRad="152400" algn="tl" rotWithShape="false">
              <a:srgbClr val="000000">
                <a:alpha val="12000"/>
              </a:srgbClr>
            </a:outerShdw>
          </a:effectLst>
        </p:spPr>
      </p:pic>
      <p:sp>
        <p:nvSpPr>
          <p:cNvPr name="AutoShape 14" id="14"/>
          <p:cNvSpPr/>
          <p:nvPr/>
        </p:nvSpPr>
        <p:spPr>
          <a:xfrm rot="0" flipH="false" flipV="false">
            <a:off x="762000" y="5143500"/>
            <a:ext cx="10668000" cy="13970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16000" y="5308600"/>
            <a:ext cx="1016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微软雅黑"/>
                <a:ea typeface="微软雅黑"/>
                <a:cs typeface="微软雅黑"/>
                <a:sym typeface="微软雅黑"/>
              </a:rPr>
              <a:t>AI is not a single, monolithic entity—it’s a family of techniques woven into daily life. It powers your phone’s face unlock, curates your social feed, and optimizes global supply chains. It’s not always the flashy robot from the movies; it’s the invisible engine working behind the scenes, making the ordinary extraordinary.</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AI is All Around Us</a:t>
            </a:r>
            <a:endParaRPr lang="en-US" sz="1100"/>
          </a:p>
        </p:txBody>
      </p:sp>
      <p:sp>
        <p:nvSpPr>
          <p:cNvPr name="AutoShape 4" id="4"/>
          <p:cNvSpPr/>
          <p:nvPr/>
        </p:nvSpPr>
        <p:spPr>
          <a:xfrm rot="0" flipH="false" flipV="false">
            <a:off x="762000" y="1524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151"/>
                </a:solidFill>
                <a:latin typeface="微软雅黑"/>
                <a:ea typeface="微软雅黑"/>
                <a:cs typeface="微软雅黑"/>
                <a:sym typeface="微软雅黑"/>
              </a:rPr>
              <a:t>AI is the invisible engine powering many services we take for granted, seamlessly integrated into our daily digital experiences.</a:t>
            </a:r>
            <a:endParaRPr lang="en-US" sz="1100"/>
          </a:p>
        </p:txBody>
      </p:sp>
      <p:sp>
        <p:nvSpPr>
          <p:cNvPr name="AutoShape 5" id="5"/>
          <p:cNvSpPr/>
          <p:nvPr/>
        </p:nvSpPr>
        <p:spPr>
          <a:xfrm rot="0" flipH="false" flipV="false">
            <a:off x="762000" y="2413000"/>
            <a:ext cx="3378200" cy="2857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0" r="0" t="5999" b="5999"/>
          <a:stretch>
            <a:fillRect/>
          </a:stretch>
        </p:blipFill>
        <p:spPr>
          <a:xfrm rot="0" flipH="false" flipV="false">
            <a:off x="889000" y="2603500"/>
            <a:ext cx="3124200" cy="1714500"/>
          </a:xfrm>
          <a:prstGeom prst="roundRect">
            <a:avLst>
              <a:gd name="adj" fmla="val 5925"/>
            </a:avLst>
          </a:prstGeom>
          <a:noFill/>
          <a:ln w="25400" cmpd="sng" cap="flat">
            <a:noFill/>
            <a:prstDash val="solid"/>
            <a:round/>
          </a:ln>
        </p:spPr>
      </p:pic>
      <p:sp>
        <p:nvSpPr>
          <p:cNvPr name="AutoShape 7" id="7"/>
          <p:cNvSpPr/>
          <p:nvPr/>
        </p:nvSpPr>
        <p:spPr>
          <a:xfrm rot="0" flipH="false" flipV="false">
            <a:off x="889000" y="4381500"/>
            <a:ext cx="3124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D3EE"/>
                </a:solidFill>
                <a:latin typeface="微软雅黑"/>
                <a:ea typeface="微软雅黑"/>
                <a:cs typeface="微软雅黑"/>
                <a:sym typeface="微软雅黑"/>
              </a:rPr>
              <a:t>Smart Entertainment</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00000"/>
              </a:lnSpc>
            </a:pPr>
            <a:r>
              <a:rPr lang="en-US" b="false" i="false" strike="noStrike" u="none" sz="1300">
                <a:solidFill>
                  <a:srgbClr val="4B5563"/>
                </a:solidFill>
                <a:latin typeface="微软雅黑"/>
                <a:ea typeface="微软雅黑"/>
                <a:cs typeface="微软雅黑"/>
                <a:sym typeface="微软雅黑"/>
              </a:rPr>
              <a:t>Netflix and streaming platforms use AI to analyze your viewing habits and serve up hyper-personalized show recommendations.</a:t>
            </a:r>
          </a:p>
        </p:txBody>
      </p:sp>
      <p:sp>
        <p:nvSpPr>
          <p:cNvPr name="AutoShape 8" id="8"/>
          <p:cNvSpPr/>
          <p:nvPr/>
        </p:nvSpPr>
        <p:spPr>
          <a:xfrm rot="0" flipH="false" flipV="false">
            <a:off x="4394200" y="2413000"/>
            <a:ext cx="3378200" cy="2857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srcRect l="6995" r="6995" t="0" b="0"/>
          <a:stretch>
            <a:fillRect/>
          </a:stretch>
        </p:blipFill>
        <p:spPr>
          <a:xfrm rot="0" flipH="false" flipV="false">
            <a:off x="4521200" y="2603500"/>
            <a:ext cx="3124200" cy="1714500"/>
          </a:xfrm>
          <a:prstGeom prst="roundRect">
            <a:avLst>
              <a:gd name="adj" fmla="val 5925"/>
            </a:avLst>
          </a:prstGeom>
          <a:noFill/>
          <a:ln w="25400" cmpd="sng" cap="flat">
            <a:noFill/>
            <a:prstDash val="solid"/>
            <a:round/>
          </a:ln>
        </p:spPr>
      </p:pic>
      <p:sp>
        <p:nvSpPr>
          <p:cNvPr name="AutoShape 10" id="10"/>
          <p:cNvSpPr/>
          <p:nvPr/>
        </p:nvSpPr>
        <p:spPr>
          <a:xfrm rot="0" flipH="false" flipV="false">
            <a:off x="4521200" y="4381500"/>
            <a:ext cx="3124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D3EE"/>
                </a:solidFill>
                <a:latin typeface="微软雅黑"/>
                <a:ea typeface="微软雅黑"/>
                <a:cs typeface="微软雅黑"/>
                <a:sym typeface="微软雅黑"/>
              </a:rPr>
              <a:t>Personalized Music</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00000"/>
              </a:lnSpc>
            </a:pPr>
            <a:r>
              <a:rPr lang="en-US" b="false" i="false" strike="noStrike" u="none" sz="1300">
                <a:solidFill>
                  <a:srgbClr val="4B5563"/>
                </a:solidFill>
                <a:latin typeface="微软雅黑"/>
                <a:ea typeface="微软雅黑"/>
                <a:cs typeface="微软雅黑"/>
                <a:sym typeface="微软雅黑"/>
              </a:rPr>
              <a:t>Spotify's "Discover Weekly" and other playlists are AI-curated, adapting to your unique taste in songs and artists.</a:t>
            </a:r>
          </a:p>
        </p:txBody>
      </p:sp>
      <p:sp>
        <p:nvSpPr>
          <p:cNvPr name="AutoShape 11" id="11"/>
          <p:cNvSpPr/>
          <p:nvPr/>
        </p:nvSpPr>
        <p:spPr>
          <a:xfrm rot="0" flipH="false" flipV="false">
            <a:off x="8026400" y="2413000"/>
            <a:ext cx="3378200" cy="2857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srcRect l="0" r="0" t="7458" b="7458"/>
          <a:stretch>
            <a:fillRect/>
          </a:stretch>
        </p:blipFill>
        <p:spPr>
          <a:xfrm rot="0" flipH="false" flipV="false">
            <a:off x="8153400" y="2603500"/>
            <a:ext cx="3124200" cy="1714500"/>
          </a:xfrm>
          <a:prstGeom prst="roundRect">
            <a:avLst>
              <a:gd name="adj" fmla="val 5925"/>
            </a:avLst>
          </a:prstGeom>
          <a:noFill/>
          <a:ln w="25400" cmpd="sng" cap="flat">
            <a:noFill/>
            <a:prstDash val="solid"/>
            <a:round/>
          </a:ln>
        </p:spPr>
      </p:pic>
      <p:sp>
        <p:nvSpPr>
          <p:cNvPr name="AutoShape 13" id="13"/>
          <p:cNvSpPr/>
          <p:nvPr/>
        </p:nvSpPr>
        <p:spPr>
          <a:xfrm rot="0" flipH="false" flipV="false">
            <a:off x="8153400" y="4381500"/>
            <a:ext cx="3124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D3EE"/>
                </a:solidFill>
                <a:latin typeface="微软雅黑"/>
                <a:ea typeface="微软雅黑"/>
                <a:cs typeface="微软雅黑"/>
                <a:sym typeface="微软雅黑"/>
              </a:rPr>
              <a:t>Intelligent Navigation</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00000"/>
              </a:lnSpc>
            </a:pPr>
            <a:r>
              <a:rPr lang="en-US" b="false" i="false" strike="noStrike" u="none" sz="1300">
                <a:solidFill>
                  <a:srgbClr val="4B5563"/>
                </a:solidFill>
                <a:latin typeface="微软雅黑"/>
                <a:ea typeface="微软雅黑"/>
                <a:cs typeface="微软雅黑"/>
                <a:sym typeface="微软雅黑"/>
              </a:rPr>
              <a:t>Google Maps leverages AI to predict real-time traffic, calculate optimal routes, and adjust for unexpected delays.</a:t>
            </a:r>
          </a:p>
        </p:txBody>
      </p:sp>
      <p:sp>
        <p:nvSpPr>
          <p:cNvPr name="AutoShape 14" id="14"/>
          <p:cNvSpPr/>
          <p:nvPr/>
        </p:nvSpPr>
        <p:spPr>
          <a:xfrm rot="0" flipH="false" flipV="false">
            <a:off x="762000" y="5588000"/>
            <a:ext cx="10668000" cy="698500"/>
          </a:xfrm>
          <a:prstGeom prst="roundRect">
            <a:avLst>
              <a:gd name="adj" fmla="val 0"/>
            </a:avLst>
          </a:prstGeom>
          <a:solidFill>
            <a:srgbClr val="22D3E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89000" y="5715000"/>
            <a:ext cx="10414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700">
                <a:solidFill>
                  <a:srgbClr val="155E75"/>
                </a:solidFill>
                <a:latin typeface="微软雅黑"/>
                <a:ea typeface="微软雅黑"/>
                <a:cs typeface="微软雅黑"/>
                <a:sym typeface="微软雅黑"/>
              </a:rPr>
              <a:t>“AI is not just the future; it's the present — embedded in the apps and tools we use every single day.”</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A Formal Definition</a:t>
            </a:r>
            <a:endParaRPr lang="en-US" sz="1100"/>
          </a:p>
        </p:txBody>
      </p:sp>
      <p:pic>
        <p:nvPicPr>
          <p:cNvPr name="Picture 4" id="4"/>
          <p:cNvPicPr>
            <a:picLocks noChangeAspect="true"/>
          </p:cNvPicPr>
          <p:nvPr/>
        </p:nvPicPr>
        <p:blipFill>
          <a:blip r:embed="rId3"/>
          <a:srcRect l="0" r="0" t="0" b="0"/>
          <a:stretch>
            <a:fillRect/>
          </a:stretch>
        </p:blipFill>
        <p:spPr>
          <a:xfrm rot="0" flipH="false" flipV="false">
            <a:off x="762000" y="1905000"/>
            <a:ext cx="3302000" cy="3302000"/>
          </a:xfrm>
          <a:prstGeom prst="ellipse">
            <a:avLst/>
          </a:prstGeom>
          <a:noFill/>
          <a:ln w="25400" cmpd="sng" cap="flat">
            <a:solidFill>
              <a:srgbClr val="22D3EE">
                <a:alpha val="50000"/>
              </a:srgbClr>
            </a:solidFill>
            <a:prstDash val="solid"/>
            <a:round/>
          </a:ln>
          <a:effectLst>
            <a:outerShdw dir="2700000" dist="101600" blurRad="254000" algn="tl" rotWithShape="false">
              <a:srgbClr val="22D3EE">
                <a:alpha val="20000"/>
              </a:srgbClr>
            </a:outerShdw>
          </a:effectLst>
        </p:spPr>
      </p:pic>
      <p:sp>
        <p:nvSpPr>
          <p:cNvPr name="AutoShape 5" id="5"/>
          <p:cNvSpPr/>
          <p:nvPr/>
        </p:nvSpPr>
        <p:spPr>
          <a:xfrm rot="0" flipH="false" flipV="false">
            <a:off x="4572000" y="1905000"/>
            <a:ext cx="685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74151"/>
                </a:solidFill>
                <a:latin typeface="Noto Sans SC"/>
                <a:ea typeface="Noto Sans SC"/>
                <a:cs typeface="Noto Sans SC"/>
                <a:sym typeface="Noto Sans SC"/>
              </a:rPr>
              <a:t>Artificial Intelligence (AI)</a:t>
            </a:r>
            <a:r>
              <a:rPr lang="en-US" b="false" i="false" strike="noStrike" u="none" sz="1600">
                <a:solidFill>
                  <a:srgbClr val="374151"/>
                </a:solidFill>
                <a:latin typeface="Noto Sans SC"/>
                <a:ea typeface="Noto Sans SC"/>
                <a:cs typeface="Noto Sans SC"/>
                <a:sym typeface="Noto Sans SC"/>
              </a:rPr>
              <a:t>is a broad field of study focused on building systems that simulate human cognitive functions, enabling them to perform tasks that typically require human intelligence and reasoning.</a:t>
            </a:r>
            <a:endParaRPr lang="en-US" sz="1100"/>
          </a:p>
        </p:txBody>
      </p:sp>
      <p:sp>
        <p:nvSpPr>
          <p:cNvPr name="AutoShape 6" id="6"/>
          <p:cNvSpPr/>
          <p:nvPr/>
        </p:nvSpPr>
        <p:spPr>
          <a:xfrm rot="0" flipH="false" flipV="false">
            <a:off x="4572000" y="3302000"/>
            <a:ext cx="3302000" cy="952500"/>
          </a:xfrm>
          <a:prstGeom prst="roundRect">
            <a:avLst>
              <a:gd name="adj" fmla="val 0"/>
            </a:avLst>
          </a:prstGeom>
          <a:solidFill>
            <a:srgbClr val="22D3EE">
              <a:alpha val="8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62500" y="3492500"/>
            <a:ext cx="304800" cy="304800"/>
          </a:xfrm>
          <a:prstGeom prst="rect">
            <a:avLst/>
          </a:prstGeom>
        </p:spPr>
      </p:pic>
      <p:sp>
        <p:nvSpPr>
          <p:cNvPr name="AutoShape 8" id="8"/>
          <p:cNvSpPr/>
          <p:nvPr/>
        </p:nvSpPr>
        <p:spPr>
          <a:xfrm rot="0" flipH="false" flipV="false">
            <a:off x="5143500" y="3403600"/>
            <a:ext cx="266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Pattern Recognition</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B7280"/>
                </a:solidFill>
                <a:latin typeface="Noto Sans SC"/>
                <a:ea typeface="Noto Sans SC"/>
                <a:cs typeface="Noto Sans SC"/>
                <a:sym typeface="Noto Sans SC"/>
              </a:rPr>
              <a:t>Identifying meaningful structures and regularities within complex datasets.</a:t>
            </a:r>
          </a:p>
        </p:txBody>
      </p:sp>
      <p:sp>
        <p:nvSpPr>
          <p:cNvPr name="AutoShape 9" id="9"/>
          <p:cNvSpPr/>
          <p:nvPr/>
        </p:nvSpPr>
        <p:spPr>
          <a:xfrm rot="0" flipH="false" flipV="false">
            <a:off x="8128000" y="3302000"/>
            <a:ext cx="3302000" cy="952500"/>
          </a:xfrm>
          <a:prstGeom prst="roundRect">
            <a:avLst>
              <a:gd name="adj" fmla="val 0"/>
            </a:avLst>
          </a:prstGeom>
          <a:solidFill>
            <a:srgbClr val="22D3EE">
              <a:alpha val="8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3492500"/>
            <a:ext cx="304800" cy="304800"/>
          </a:xfrm>
          <a:prstGeom prst="rect">
            <a:avLst/>
          </a:prstGeom>
        </p:spPr>
      </p:pic>
      <p:sp>
        <p:nvSpPr>
          <p:cNvPr name="AutoShape 11" id="11"/>
          <p:cNvSpPr/>
          <p:nvPr/>
        </p:nvSpPr>
        <p:spPr>
          <a:xfrm rot="0" flipH="false" flipV="false">
            <a:off x="8699500" y="3403600"/>
            <a:ext cx="266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Decision Making</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B7280"/>
                </a:solidFill>
                <a:latin typeface="Noto Sans SC"/>
                <a:ea typeface="Noto Sans SC"/>
                <a:cs typeface="Noto Sans SC"/>
                <a:sym typeface="Noto Sans SC"/>
              </a:rPr>
              <a:t>Evaluating alternatives and selecting optimal actions to achieve defined goals.</a:t>
            </a:r>
          </a:p>
        </p:txBody>
      </p:sp>
      <p:sp>
        <p:nvSpPr>
          <p:cNvPr name="AutoShape 12" id="12"/>
          <p:cNvSpPr/>
          <p:nvPr/>
        </p:nvSpPr>
        <p:spPr>
          <a:xfrm rot="0" flipH="false" flipV="false">
            <a:off x="4572000" y="4381500"/>
            <a:ext cx="3302000" cy="952500"/>
          </a:xfrm>
          <a:prstGeom prst="roundRect">
            <a:avLst>
              <a:gd name="adj" fmla="val 0"/>
            </a:avLst>
          </a:prstGeom>
          <a:solidFill>
            <a:srgbClr val="22D3EE">
              <a:alpha val="8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762500" y="4572000"/>
            <a:ext cx="304800" cy="304800"/>
          </a:xfrm>
          <a:prstGeom prst="rect">
            <a:avLst/>
          </a:prstGeom>
        </p:spPr>
      </p:pic>
      <p:sp>
        <p:nvSpPr>
          <p:cNvPr name="AutoShape 14" id="14"/>
          <p:cNvSpPr/>
          <p:nvPr/>
        </p:nvSpPr>
        <p:spPr>
          <a:xfrm rot="0" flipH="false" flipV="false">
            <a:off x="5143500" y="4483100"/>
            <a:ext cx="266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Natural Language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B7280"/>
                </a:solidFill>
                <a:latin typeface="Noto Sans SC"/>
                <a:ea typeface="Noto Sans SC"/>
                <a:cs typeface="Noto Sans SC"/>
                <a:sym typeface="Noto Sans SC"/>
              </a:rPr>
              <a:t>Comprehending, interpreting, and generating human language in context.</a:t>
            </a:r>
          </a:p>
        </p:txBody>
      </p:sp>
      <p:sp>
        <p:nvSpPr>
          <p:cNvPr name="AutoShape 15" id="15"/>
          <p:cNvSpPr/>
          <p:nvPr/>
        </p:nvSpPr>
        <p:spPr>
          <a:xfrm rot="0" flipH="false" flipV="false">
            <a:off x="8128000" y="4381500"/>
            <a:ext cx="3302000" cy="952500"/>
          </a:xfrm>
          <a:prstGeom prst="roundRect">
            <a:avLst>
              <a:gd name="adj" fmla="val 0"/>
            </a:avLst>
          </a:prstGeom>
          <a:solidFill>
            <a:srgbClr val="22D3EE">
              <a:alpha val="8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318500" y="4572000"/>
            <a:ext cx="304800" cy="304800"/>
          </a:xfrm>
          <a:prstGeom prst="rect">
            <a:avLst/>
          </a:prstGeom>
        </p:spPr>
      </p:pic>
      <p:sp>
        <p:nvSpPr>
          <p:cNvPr name="AutoShape 17" id="17"/>
          <p:cNvSpPr/>
          <p:nvPr/>
        </p:nvSpPr>
        <p:spPr>
          <a:xfrm rot="0" flipH="false" flipV="false">
            <a:off x="8699500" y="4483100"/>
            <a:ext cx="266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Learning &amp; Adaptation</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B7280"/>
                </a:solidFill>
                <a:latin typeface="Noto Sans SC"/>
                <a:ea typeface="Noto Sans SC"/>
                <a:cs typeface="Noto Sans SC"/>
                <a:sym typeface="Noto Sans SC"/>
              </a:rPr>
              <a:t>Improving performance and accuracy by learning from experience and new data.</a:t>
            </a:r>
          </a:p>
        </p:txBody>
      </p:sp>
      <p:sp>
        <p:nvSpPr>
          <p:cNvPr name="AutoShape 18" id="18"/>
          <p:cNvSpPr/>
          <p:nvPr/>
        </p:nvSpPr>
        <p:spPr>
          <a:xfrm rot="0" flipH="false" flipV="false">
            <a:off x="762000" y="5524500"/>
            <a:ext cx="10668000" cy="889000"/>
          </a:xfrm>
          <a:prstGeom prst="roundRect">
            <a:avLst>
              <a:gd name="adj" fmla="val 0"/>
            </a:avLst>
          </a:prstGeom>
          <a:solidFill>
            <a:srgbClr val="1F2937">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2000" y="5524500"/>
            <a:ext cx="50800" cy="8890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016000" y="5588000"/>
            <a:ext cx="1028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The critical distinction is the term</a:t>
            </a:r>
            <a:r>
              <a:rPr lang="en-US" b="true" i="false" strike="noStrike" u="none" sz="1400">
                <a:solidFill>
                  <a:srgbClr val="22D3EE"/>
                </a:solidFill>
                <a:latin typeface="Noto Sans SC"/>
                <a:ea typeface="Noto Sans SC"/>
                <a:cs typeface="Noto Sans SC"/>
                <a:sym typeface="Noto Sans SC"/>
              </a:rPr>
              <a:t>"artificial"</a:t>
            </a:r>
            <a:r>
              <a:rPr lang="en-US" b="false" i="false" strike="noStrike" u="none" sz="1400">
                <a:solidFill>
                  <a:srgbClr val="374151"/>
                </a:solidFill>
                <a:latin typeface="Noto Sans SC"/>
                <a:ea typeface="Noto Sans SC"/>
                <a:cs typeface="Noto Sans SC"/>
                <a:sym typeface="Noto Sans SC"/>
              </a:rPr>
              <a:t>: this intelligence is engineered into algorithms and hardware, a synthetic construct, not an emergent property of biological tissue.</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Understanding the Relationship</a:t>
            </a:r>
            <a:endParaRPr lang="en-US" sz="1100"/>
          </a:p>
        </p:txBody>
      </p:sp>
      <p:sp>
        <p:nvSpPr>
          <p:cNvPr name="AutoShape 4" id="4"/>
          <p:cNvSpPr/>
          <p:nvPr/>
        </p:nvSpPr>
        <p:spPr>
          <a:xfrm rot="0" flipH="false" flipV="false">
            <a:off x="762000" y="177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4B5563"/>
                </a:solidFill>
                <a:latin typeface="微软雅黑"/>
                <a:ea typeface="微软雅黑"/>
                <a:cs typeface="微软雅黑"/>
                <a:sym typeface="微软雅黑"/>
              </a:rPr>
              <a:t>The terms AI, Machine Learning, and Deep Learning are often used interchangeably, but they represent distinct concepts in a hierarchical structure—like a set of</a:t>
            </a:r>
            <a:r>
              <a:rPr lang="en-US" b="true" i="false" strike="noStrike" u="none" sz="1500">
                <a:solidFill>
                  <a:srgbClr val="22D3EE"/>
                </a:solidFill>
                <a:latin typeface="微软雅黑"/>
                <a:ea typeface="微软雅黑"/>
                <a:cs typeface="微软雅黑"/>
                <a:sym typeface="微软雅黑"/>
              </a:rPr>
              <a:t>nested circles</a:t>
            </a:r>
            <a:r>
              <a:rPr lang="en-US" b="false" i="false" strike="noStrike" u="none" sz="1500">
                <a:solidFill>
                  <a:srgbClr val="4B5563"/>
                </a:solidFill>
                <a:latin typeface="微软雅黑"/>
                <a:ea typeface="微软雅黑"/>
                <a:cs typeface="微软雅黑"/>
                <a:sym typeface="微软雅黑"/>
              </a:rPr>
              <a:t>. Each is a specialized subset of the broader category that contains it, building complexity and specificity as we move inward.</a:t>
            </a:r>
            <a:endParaRPr lang="en-US" sz="1100"/>
          </a:p>
        </p:txBody>
      </p:sp>
      <p:sp>
        <p:nvSpPr>
          <p:cNvPr name="AutoShape 5" id="5"/>
          <p:cNvSpPr/>
          <p:nvPr/>
        </p:nvSpPr>
        <p:spPr>
          <a:xfrm rot="0" flipH="false" flipV="false">
            <a:off x="762000" y="3048000"/>
            <a:ext cx="3378200" cy="2667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3048000"/>
            <a:ext cx="3378200" cy="508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429000"/>
            <a:ext cx="406400" cy="406400"/>
          </a:xfrm>
          <a:prstGeom prst="rect">
            <a:avLst/>
          </a:prstGeom>
        </p:spPr>
      </p:pic>
      <p:sp>
        <p:nvSpPr>
          <p:cNvPr name="AutoShape 8" id="8"/>
          <p:cNvSpPr/>
          <p:nvPr/>
        </p:nvSpPr>
        <p:spPr>
          <a:xfrm rot="0" flipH="false" flipV="false">
            <a:off x="1549400" y="3429000"/>
            <a:ext cx="2413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Artificial Intelligence</a:t>
            </a:r>
            <a:endParaRPr lang="en-US" sz="1100"/>
          </a:p>
        </p:txBody>
      </p:sp>
      <p:sp>
        <p:nvSpPr>
          <p:cNvPr name="AutoShape 9" id="9"/>
          <p:cNvSpPr/>
          <p:nvPr/>
        </p:nvSpPr>
        <p:spPr>
          <a:xfrm rot="0" flipH="false" flipV="false">
            <a:off x="1016000" y="4064000"/>
            <a:ext cx="28702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微软雅黑"/>
                <a:ea typeface="微软雅黑"/>
                <a:cs typeface="微软雅黑"/>
                <a:sym typeface="微软雅黑"/>
              </a:rPr>
              <a:t>The **umbrella term** for any technology that enables machines to simulate human-like intelligence. It focuses on creating systems capable of reasoning, learning, and acting autonomously, beyond just executing pre-defined code.</a:t>
            </a:r>
            <a:endParaRPr lang="en-US" sz="1100"/>
          </a:p>
        </p:txBody>
      </p:sp>
      <p:sp>
        <p:nvSpPr>
          <p:cNvPr name="AutoShape 10" id="10"/>
          <p:cNvSpPr/>
          <p:nvPr/>
        </p:nvSpPr>
        <p:spPr>
          <a:xfrm rot="0" flipH="false" flipV="false">
            <a:off x="4406900" y="3048000"/>
            <a:ext cx="3378200" cy="2667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06900" y="3048000"/>
            <a:ext cx="3378200" cy="508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3429000"/>
            <a:ext cx="406400" cy="406400"/>
          </a:xfrm>
          <a:prstGeom prst="rect">
            <a:avLst/>
          </a:prstGeom>
        </p:spPr>
      </p:pic>
      <p:sp>
        <p:nvSpPr>
          <p:cNvPr name="AutoShape 13" id="13"/>
          <p:cNvSpPr/>
          <p:nvPr/>
        </p:nvSpPr>
        <p:spPr>
          <a:xfrm rot="0" flipH="false" flipV="false">
            <a:off x="5194300" y="3429000"/>
            <a:ext cx="2413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Machine Learning</a:t>
            </a:r>
            <a:endParaRPr lang="en-US" sz="1100"/>
          </a:p>
        </p:txBody>
      </p:sp>
      <p:sp>
        <p:nvSpPr>
          <p:cNvPr name="AutoShape 14" id="14"/>
          <p:cNvSpPr/>
          <p:nvPr/>
        </p:nvSpPr>
        <p:spPr>
          <a:xfrm rot="0" flipH="false" flipV="false">
            <a:off x="4660900" y="4064000"/>
            <a:ext cx="28702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微软雅黑"/>
                <a:ea typeface="微软雅黑"/>
                <a:cs typeface="微软雅黑"/>
                <a:sym typeface="微软雅黑"/>
              </a:rPr>
              <a:t>A **subset of AI** that empowers systems to learn patterns directly from data, without explicit programming for every scenario. It uses statistical algorithms to improve task performance through experience and iteration.</a:t>
            </a:r>
            <a:endParaRPr lang="en-US" sz="1100"/>
          </a:p>
        </p:txBody>
      </p:sp>
      <p:sp>
        <p:nvSpPr>
          <p:cNvPr name="AutoShape 15" id="15"/>
          <p:cNvSpPr/>
          <p:nvPr/>
        </p:nvSpPr>
        <p:spPr>
          <a:xfrm rot="0" flipH="false" flipV="false">
            <a:off x="8051800" y="3048000"/>
            <a:ext cx="3378200" cy="2667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051800" y="3048000"/>
            <a:ext cx="3378200" cy="508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3429000"/>
            <a:ext cx="406400" cy="406400"/>
          </a:xfrm>
          <a:prstGeom prst="rect">
            <a:avLst/>
          </a:prstGeom>
        </p:spPr>
      </p:pic>
      <p:sp>
        <p:nvSpPr>
          <p:cNvPr name="AutoShape 18" id="18"/>
          <p:cNvSpPr/>
          <p:nvPr/>
        </p:nvSpPr>
        <p:spPr>
          <a:xfrm rot="0" flipH="false" flipV="false">
            <a:off x="8839200" y="3429000"/>
            <a:ext cx="2413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Deep Learning</a:t>
            </a:r>
            <a:endParaRPr lang="en-US" sz="1100"/>
          </a:p>
        </p:txBody>
      </p:sp>
      <p:sp>
        <p:nvSpPr>
          <p:cNvPr name="AutoShape 19" id="19"/>
          <p:cNvSpPr/>
          <p:nvPr/>
        </p:nvSpPr>
        <p:spPr>
          <a:xfrm rot="0" flipH="false" flipV="false">
            <a:off x="8305800" y="4064000"/>
            <a:ext cx="28702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微软雅黑"/>
                <a:ea typeface="微软雅黑"/>
                <a:cs typeface="微软雅黑"/>
                <a:sym typeface="微软雅黑"/>
              </a:rPr>
              <a:t>A **subset of ML** inspired by the brain's neural structure. It uses multi-layered networks to process vast amounts of unstructured data (e.g., images, speech), automatically extracting intricate features for accurate predictions.</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AI ⊃ Machine Learning ⊃ Deep Learning</a:t>
            </a:r>
            <a:endParaRPr lang="en-US" sz="1100"/>
          </a:p>
        </p:txBody>
      </p:sp>
      <p:pic>
        <p:nvPicPr>
          <p:cNvPr name="Picture 4" id="4"/>
          <p:cNvPicPr>
            <a:picLocks noChangeAspect="true"/>
          </p:cNvPicPr>
          <p:nvPr/>
        </p:nvPicPr>
        <p:blipFill>
          <a:blip r:embed="rId3"/>
          <a:srcRect l="119" r="119" t="0" b="0"/>
          <a:stretch>
            <a:fillRect/>
          </a:stretch>
        </p:blipFill>
        <p:spPr>
          <a:xfrm rot="0" flipH="false" flipV="false">
            <a:off x="762000" y="2032000"/>
            <a:ext cx="4318000" cy="3048000"/>
          </a:xfrm>
          <a:prstGeom prst="roundRect">
            <a:avLst>
              <a:gd name="adj" fmla="val 5000"/>
            </a:avLst>
          </a:prstGeom>
          <a:noFill/>
          <a:ln w="25400" cmpd="sng" cap="flat">
            <a:solidFill>
              <a:srgbClr val="FFFFFF">
                <a:alpha val="60000"/>
              </a:srgbClr>
            </a:solidFill>
            <a:prstDash val="solid"/>
            <a:round/>
          </a:ln>
          <a:effectLst>
            <a:outerShdw dir="2700000" dist="76200" blurRad="203200" algn="tl" rotWithShape="false">
              <a:srgbClr val="000000">
                <a:alpha val="12000"/>
              </a:srgbClr>
            </a:outerShdw>
          </a:effectLst>
        </p:spPr>
      </p:pic>
      <p:sp>
        <p:nvSpPr>
          <p:cNvPr name="AutoShape 5" id="5"/>
          <p:cNvSpPr/>
          <p:nvPr/>
        </p:nvSpPr>
        <p:spPr>
          <a:xfrm rot="0" flipH="false" flipV="false">
            <a:off x="762000" y="5270500"/>
            <a:ext cx="4318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300">
                <a:solidFill>
                  <a:srgbClr val="1F2937">
                    <a:alpha val="74902"/>
                  </a:srgbClr>
                </a:solidFill>
                <a:latin typeface="微软雅黑"/>
                <a:ea typeface="微软雅黑"/>
                <a:cs typeface="微软雅黑"/>
                <a:sym typeface="微软雅黑"/>
              </a:rPr>
              <a:t>This nested structure illustrates the scope: AI is the overarching field, with Machine Learning as a specialized approach, and Deep Learning as its advanced, neural-network-driven subset.</a:t>
            </a:r>
            <a:endParaRPr lang="en-US" sz="1100"/>
          </a:p>
        </p:txBody>
      </p:sp>
      <p:sp>
        <p:nvSpPr>
          <p:cNvPr name="AutoShape 6" id="6"/>
          <p:cNvSpPr/>
          <p:nvPr/>
        </p:nvSpPr>
        <p:spPr>
          <a:xfrm rot="0" flipH="false" flipV="false">
            <a:off x="5588000" y="1905000"/>
            <a:ext cx="5842000" cy="1168400"/>
          </a:xfrm>
          <a:prstGeom prst="roundRect">
            <a:avLst>
              <a:gd name="adj" fmla="val 0"/>
            </a:avLst>
          </a:prstGeom>
          <a:solidFill>
            <a:srgbClr val="22D3EE">
              <a:alpha val="8000"/>
            </a:srgbClr>
          </a:solidFill>
          <a:ln w="12700" cmpd="sng" cap="flat">
            <a:solidFill>
              <a:srgbClr val="22D3EE">
                <a:alpha val="25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588000" y="1905000"/>
            <a:ext cx="50800" cy="11684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778500" y="1968500"/>
            <a:ext cx="5588000" cy="1041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2D3EE"/>
                </a:solidFill>
                <a:latin typeface="微软雅黑"/>
                <a:ea typeface="微软雅黑"/>
                <a:cs typeface="微软雅黑"/>
                <a:sym typeface="微软雅黑"/>
              </a:rPr>
              <a:t>01. Artificial Intelligence (AI)</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08333"/>
              </a:lnSpc>
            </a:pPr>
            <a:r>
              <a:rPr lang="en-US" b="false" i="false" strike="noStrike" u="none" sz="1300">
                <a:solidFill>
                  <a:srgbClr val="374151"/>
                </a:solidFill>
                <a:latin typeface="微软雅黑"/>
                <a:ea typeface="微软雅黑"/>
                <a:cs typeface="微软雅黑"/>
                <a:sym typeface="微软雅黑"/>
              </a:rPr>
              <a:t>The broad umbrella term for systems that simulate human intelligence. It includes rule-based logic (e.g., chess algorithms), expert systems, and early pattern-matching software.</a:t>
            </a:r>
          </a:p>
        </p:txBody>
      </p:sp>
      <p:sp>
        <p:nvSpPr>
          <p:cNvPr name="AutoShape 9" id="9"/>
          <p:cNvSpPr/>
          <p:nvPr/>
        </p:nvSpPr>
        <p:spPr>
          <a:xfrm rot="0" flipH="false" flipV="false">
            <a:off x="5588000" y="3302000"/>
            <a:ext cx="5842000" cy="1168400"/>
          </a:xfrm>
          <a:prstGeom prst="roundRect">
            <a:avLst>
              <a:gd name="adj" fmla="val 0"/>
            </a:avLst>
          </a:prstGeom>
          <a:solidFill>
            <a:srgbClr val="22D3EE">
              <a:alpha val="8000"/>
            </a:srgbClr>
          </a:solidFill>
          <a:ln w="12700" cmpd="sng" cap="flat">
            <a:solidFill>
              <a:srgbClr val="22D3EE">
                <a:alpha val="25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588000" y="3302000"/>
            <a:ext cx="50800" cy="11684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778500" y="3365500"/>
            <a:ext cx="5588000" cy="1041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2D3EE"/>
                </a:solidFill>
                <a:latin typeface="微软雅黑"/>
                <a:ea typeface="微软雅黑"/>
                <a:cs typeface="微软雅黑"/>
                <a:sym typeface="微软雅黑"/>
              </a:rPr>
              <a:t>02. Machine Learning (ML)</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08333"/>
              </a:lnSpc>
            </a:pPr>
            <a:r>
              <a:rPr lang="en-US" b="false" i="false" strike="noStrike" u="none" sz="1300">
                <a:solidFill>
                  <a:srgbClr val="374151"/>
                </a:solidFill>
                <a:latin typeface="微软雅黑"/>
                <a:ea typeface="微软雅黑"/>
                <a:cs typeface="微软雅黑"/>
                <a:sym typeface="微软雅黑"/>
              </a:rPr>
              <a:t>A subset of AI that enables systems to learn from data without explicit programming. It powers adaptive spam filters, recommendation engines (e.g., Netflix), and predictive analytics.</a:t>
            </a:r>
          </a:p>
        </p:txBody>
      </p:sp>
      <p:sp>
        <p:nvSpPr>
          <p:cNvPr name="AutoShape 12" id="12"/>
          <p:cNvSpPr/>
          <p:nvPr/>
        </p:nvSpPr>
        <p:spPr>
          <a:xfrm rot="0" flipH="false" flipV="false">
            <a:off x="5588000" y="4699000"/>
            <a:ext cx="5842000" cy="1168400"/>
          </a:xfrm>
          <a:prstGeom prst="roundRect">
            <a:avLst>
              <a:gd name="adj" fmla="val 0"/>
            </a:avLst>
          </a:prstGeom>
          <a:solidFill>
            <a:srgbClr val="22D3EE">
              <a:alpha val="8000"/>
            </a:srgbClr>
          </a:solidFill>
          <a:ln w="12700" cmpd="sng" cap="flat">
            <a:solidFill>
              <a:srgbClr val="22D3EE">
                <a:alpha val="25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588000" y="4699000"/>
            <a:ext cx="50800" cy="11684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778500" y="4762500"/>
            <a:ext cx="5588000" cy="1041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2D3EE"/>
                </a:solidFill>
                <a:latin typeface="微软雅黑"/>
                <a:ea typeface="微软雅黑"/>
                <a:cs typeface="微软雅黑"/>
                <a:sym typeface="微软雅黑"/>
              </a:rPr>
              <a:t>03. Deep Learning (DL)</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08333"/>
              </a:lnSpc>
            </a:pPr>
            <a:r>
              <a:rPr lang="en-US" b="false" i="false" strike="noStrike" u="none" sz="1300">
                <a:solidFill>
                  <a:srgbClr val="374151"/>
                </a:solidFill>
                <a:latin typeface="微软雅黑"/>
                <a:ea typeface="微软雅黑"/>
                <a:cs typeface="微软雅黑"/>
                <a:sym typeface="微软雅黑"/>
              </a:rPr>
              <a:t>The cutting-edge subset of ML using multi-layered neural networks. It drives today’s breakthroughs: ChatGPT, self-driving car vision, facial recognition, and AI image/video generation.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The Evolution of AI</a:t>
            </a:r>
            <a:endParaRPr lang="en-US" sz="1100"/>
          </a:p>
        </p:txBody>
      </p:sp>
      <p:sp>
        <p:nvSpPr>
          <p:cNvPr name="AutoShape 4" id="4"/>
          <p:cNvSpPr/>
          <p:nvPr/>
        </p:nvSpPr>
        <p:spPr>
          <a:xfrm rot="0" flipH="false" flipV="false">
            <a:off x="762000" y="1651000"/>
            <a:ext cx="5207000" cy="1714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8415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D3EE"/>
                </a:solidFill>
                <a:latin typeface="微软雅黑"/>
                <a:ea typeface="微软雅黑"/>
                <a:cs typeface="微软雅黑"/>
                <a:sym typeface="微软雅黑"/>
              </a:rPr>
              <a:t>01. 1950s–1980s: The Rule-Based Era</a:t>
            </a:r>
            <a:endParaRPr lang="en-US" sz="1100"/>
          </a:p>
        </p:txBody>
      </p:sp>
      <p:sp>
        <p:nvSpPr>
          <p:cNvPr name="AutoShape 6" id="6"/>
          <p:cNvSpPr/>
          <p:nvPr/>
        </p:nvSpPr>
        <p:spPr>
          <a:xfrm rot="0" flipH="false" flipV="false">
            <a:off x="952500" y="2286000"/>
            <a:ext cx="482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微软雅黑"/>
                <a:ea typeface="微软雅黑"/>
                <a:cs typeface="微软雅黑"/>
                <a:sym typeface="微软雅黑"/>
              </a:rPr>
              <a:t>Early AI systems operated on rigid, hand-coded logic ("If-Then" rules). While functional for narrow, well-defined tasks like chess, they were "brittle" and unable to adapt to unforeseen scenarios or ambiguity in real-world data.</a:t>
            </a:r>
            <a:endParaRPr lang="en-US" sz="1100"/>
          </a:p>
        </p:txBody>
      </p:sp>
      <p:sp>
        <p:nvSpPr>
          <p:cNvPr name="AutoShape 7" id="7"/>
          <p:cNvSpPr/>
          <p:nvPr/>
        </p:nvSpPr>
        <p:spPr>
          <a:xfrm rot="0" flipH="false" flipV="false">
            <a:off x="6223000" y="1651000"/>
            <a:ext cx="5207000" cy="1714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413500" y="18415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D3EE"/>
                </a:solidFill>
                <a:latin typeface="微软雅黑"/>
                <a:ea typeface="微软雅黑"/>
                <a:cs typeface="微软雅黑"/>
                <a:sym typeface="微软雅黑"/>
              </a:rPr>
              <a:t>02. 1980s–2010s: Machine Learning Emerges</a:t>
            </a:r>
            <a:endParaRPr lang="en-US" sz="1100"/>
          </a:p>
        </p:txBody>
      </p:sp>
      <p:sp>
        <p:nvSpPr>
          <p:cNvPr name="AutoShape 9" id="9"/>
          <p:cNvSpPr/>
          <p:nvPr/>
        </p:nvSpPr>
        <p:spPr>
          <a:xfrm rot="0" flipH="false" flipV="false">
            <a:off x="6413500" y="2286000"/>
            <a:ext cx="482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微软雅黑"/>
                <a:ea typeface="微软雅黑"/>
                <a:cs typeface="微软雅黑"/>
                <a:sym typeface="微软雅黑"/>
              </a:rPr>
              <a:t>A paradigm shift to data-driven learning. Instead of explicit programming, algorithms like SVMs and Decision Trees learned patterns directly from datasets. This enabled AI to tackle more complex problems like spam detection and early computer vision.</a:t>
            </a:r>
            <a:endParaRPr lang="en-US" sz="1100"/>
          </a:p>
        </p:txBody>
      </p:sp>
      <p:sp>
        <p:nvSpPr>
          <p:cNvPr name="AutoShape 10" id="10"/>
          <p:cNvSpPr/>
          <p:nvPr/>
        </p:nvSpPr>
        <p:spPr>
          <a:xfrm rot="0" flipH="false" flipV="false">
            <a:off x="762000" y="3683000"/>
            <a:ext cx="5207000" cy="2476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3"/>
          <a:srcRect l="10156" r="10156" t="0" b="0"/>
          <a:stretch>
            <a:fillRect/>
          </a:stretch>
        </p:blipFill>
        <p:spPr>
          <a:xfrm rot="0" flipH="false" flipV="false">
            <a:off x="952500" y="4000500"/>
            <a:ext cx="2159000" cy="1524000"/>
          </a:xfrm>
          <a:prstGeom prst="roundRect">
            <a:avLst>
              <a:gd name="adj" fmla="val 6666"/>
            </a:avLst>
          </a:prstGeom>
          <a:noFill/>
          <a:ln w="25400" cmpd="sng" cap="flat">
            <a:noFill/>
            <a:prstDash val="solid"/>
            <a:round/>
          </a:ln>
        </p:spPr>
      </p:pic>
      <p:sp>
        <p:nvSpPr>
          <p:cNvPr name="AutoShape 12" id="12"/>
          <p:cNvSpPr/>
          <p:nvPr/>
        </p:nvSpPr>
        <p:spPr>
          <a:xfrm rot="0" flipH="false" flipV="false">
            <a:off x="3238500" y="4000500"/>
            <a:ext cx="2603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D3EE"/>
                </a:solidFill>
                <a:latin typeface="微软雅黑"/>
                <a:ea typeface="微软雅黑"/>
                <a:cs typeface="微软雅黑"/>
                <a:sym typeface="微软雅黑"/>
              </a:rPr>
              <a:t>03. 2012–Now: Deep Learning</a:t>
            </a:r>
            <a:endParaRPr lang="en-US" sz="1100"/>
          </a:p>
        </p:txBody>
      </p:sp>
      <p:sp>
        <p:nvSpPr>
          <p:cNvPr name="AutoShape 13" id="13"/>
          <p:cNvSpPr/>
          <p:nvPr/>
        </p:nvSpPr>
        <p:spPr>
          <a:xfrm rot="0" flipH="false" flipV="false">
            <a:off x="3238500" y="4445000"/>
            <a:ext cx="26035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微软雅黑"/>
                <a:ea typeface="微软雅黑"/>
                <a:cs typeface="微软雅黑"/>
                <a:sym typeface="微软雅黑"/>
              </a:rPr>
              <a:t>AlexNet's 2012 ImageNet victory marked a turning point. Deep neural networks, powered by Big Data and GPU acceleration, achieved human-level performance in image and speech recognition, driving today's AI applications.</a:t>
            </a:r>
            <a:endParaRPr lang="en-US" sz="1100"/>
          </a:p>
        </p:txBody>
      </p:sp>
      <p:sp>
        <p:nvSpPr>
          <p:cNvPr name="AutoShape 14" id="14"/>
          <p:cNvSpPr/>
          <p:nvPr/>
        </p:nvSpPr>
        <p:spPr>
          <a:xfrm rot="0" flipH="false" flipV="false">
            <a:off x="6223000" y="3683000"/>
            <a:ext cx="5207000" cy="2476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4"/>
          <a:srcRect l="5729" r="5729" t="0" b="0"/>
          <a:stretch>
            <a:fillRect/>
          </a:stretch>
        </p:blipFill>
        <p:spPr>
          <a:xfrm rot="0" flipH="false" flipV="false">
            <a:off x="6413500" y="4000500"/>
            <a:ext cx="2159000" cy="1524000"/>
          </a:xfrm>
          <a:prstGeom prst="roundRect">
            <a:avLst>
              <a:gd name="adj" fmla="val 6666"/>
            </a:avLst>
          </a:prstGeom>
          <a:noFill/>
          <a:ln w="25400" cmpd="sng" cap="flat">
            <a:noFill/>
            <a:prstDash val="solid"/>
            <a:round/>
          </a:ln>
        </p:spPr>
      </p:pic>
      <p:sp>
        <p:nvSpPr>
          <p:cNvPr name="AutoShape 16" id="16"/>
          <p:cNvSpPr/>
          <p:nvPr/>
        </p:nvSpPr>
        <p:spPr>
          <a:xfrm rot="0" flipH="false" flipV="false">
            <a:off x="8699500" y="4000500"/>
            <a:ext cx="2603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D3EE"/>
                </a:solidFill>
                <a:latin typeface="微软雅黑"/>
                <a:ea typeface="微软雅黑"/>
                <a:cs typeface="微软雅黑"/>
                <a:sym typeface="微软雅黑"/>
              </a:rPr>
              <a:t>04. 2022–Now: Generative AI</a:t>
            </a:r>
            <a:endParaRPr lang="en-US" sz="1100"/>
          </a:p>
        </p:txBody>
      </p:sp>
      <p:sp>
        <p:nvSpPr>
          <p:cNvPr name="AutoShape 17" id="17"/>
          <p:cNvSpPr/>
          <p:nvPr/>
        </p:nvSpPr>
        <p:spPr>
          <a:xfrm rot="0" flipH="false" flipV="false">
            <a:off x="8699500" y="4445000"/>
            <a:ext cx="26035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微软雅黑"/>
                <a:ea typeface="微软雅黑"/>
                <a:cs typeface="微软雅黑"/>
                <a:sym typeface="微软雅黑"/>
              </a:rPr>
              <a:t>LLMs like ChatGPT and Claude demonstrate emergent abilities: human-like conversation, code generation, and creative content. This era has democratized AI access and reimagined human-AI collaboration across industries.</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Why Now? The Three Forces Behind the AI Revolution</a:t>
            </a:r>
            <a:endParaRPr lang="en-US" sz="1100"/>
          </a:p>
        </p:txBody>
      </p:sp>
      <p:sp>
        <p:nvSpPr>
          <p:cNvPr name="AutoShape 4" id="4"/>
          <p:cNvSpPr/>
          <p:nvPr/>
        </p:nvSpPr>
        <p:spPr>
          <a:xfrm rot="0" flipH="false" flipV="false">
            <a:off x="762000" y="177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151"/>
                </a:solidFill>
                <a:latin typeface="微软雅黑"/>
                <a:ea typeface="微软雅黑"/>
                <a:cs typeface="微软雅黑"/>
                <a:sym typeface="微软雅黑"/>
              </a:rPr>
              <a:t>AI has existed since the 1950s, but it wasn’t until 2012 that it exploded into the mainstream. This wasn’t a single breakthrough—it was a perfect storm of three converging forces that unlocked its true potential.</a:t>
            </a:r>
            <a:endParaRPr lang="en-US" sz="1100"/>
          </a:p>
        </p:txBody>
      </p:sp>
      <p:sp>
        <p:nvSpPr>
          <p:cNvPr name="AutoShape 5" id="5"/>
          <p:cNvSpPr/>
          <p:nvPr/>
        </p:nvSpPr>
        <p:spPr>
          <a:xfrm rot="0" flipH="false" flipV="false">
            <a:off x="762000" y="3048000"/>
            <a:ext cx="3429000" cy="2794000"/>
          </a:xfrm>
          <a:prstGeom prst="roundRect">
            <a:avLst>
              <a:gd name="adj" fmla="val 0"/>
            </a:avLst>
          </a:prstGeom>
          <a:solidFill>
            <a:srgbClr val="FFFFFF">
              <a:alpha val="55000"/>
            </a:srgbClr>
          </a:solidFill>
          <a:ln w="254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302000"/>
            <a:ext cx="457200" cy="457200"/>
          </a:xfrm>
          <a:prstGeom prst="rect">
            <a:avLst/>
          </a:prstGeom>
        </p:spPr>
      </p:pic>
      <p:sp>
        <p:nvSpPr>
          <p:cNvPr name="AutoShape 7" id="7"/>
          <p:cNvSpPr/>
          <p:nvPr/>
        </p:nvSpPr>
        <p:spPr>
          <a:xfrm rot="0" flipH="false" flipV="false">
            <a:off x="1587500" y="3302000"/>
            <a:ext cx="2667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D3EE"/>
                </a:solidFill>
                <a:latin typeface="微软雅黑"/>
                <a:ea typeface="微软雅黑"/>
                <a:cs typeface="微软雅黑"/>
                <a:sym typeface="微软雅黑"/>
              </a:rPr>
              <a:t>01. Big Data</a:t>
            </a:r>
            <a:endParaRPr lang="en-US" sz="1100"/>
          </a:p>
        </p:txBody>
      </p:sp>
      <p:sp>
        <p:nvSpPr>
          <p:cNvPr name="AutoShape 8" id="8"/>
          <p:cNvSpPr/>
          <p:nvPr/>
        </p:nvSpPr>
        <p:spPr>
          <a:xfrm rot="0" flipH="false" flipV="false">
            <a:off x="1016000" y="4000500"/>
            <a:ext cx="2921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微软雅黑"/>
                <a:ea typeface="微软雅黑"/>
                <a:cs typeface="微软雅黑"/>
                <a:sym typeface="微软雅黑"/>
              </a:rPr>
              <a:t>The digital age generated an ocean of data—from social media to sensors. This massive dataset became the critical "fuel" for AI models to learn complex patterns, generalize effectively, and make predictions at an unprecedented scale.</a:t>
            </a:r>
            <a:endParaRPr lang="en-US" sz="1100"/>
          </a:p>
        </p:txBody>
      </p:sp>
      <p:sp>
        <p:nvSpPr>
          <p:cNvPr name="AutoShape 9" id="9"/>
          <p:cNvSpPr/>
          <p:nvPr/>
        </p:nvSpPr>
        <p:spPr>
          <a:xfrm rot="0" flipH="false" flipV="false">
            <a:off x="4381500" y="3048000"/>
            <a:ext cx="3429000" cy="2794000"/>
          </a:xfrm>
          <a:prstGeom prst="roundRect">
            <a:avLst>
              <a:gd name="adj" fmla="val 0"/>
            </a:avLst>
          </a:prstGeom>
          <a:solidFill>
            <a:srgbClr val="FFFFFF">
              <a:alpha val="55000"/>
            </a:srgbClr>
          </a:solidFill>
          <a:ln w="254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3302000"/>
            <a:ext cx="457200" cy="457200"/>
          </a:xfrm>
          <a:prstGeom prst="rect">
            <a:avLst/>
          </a:prstGeom>
        </p:spPr>
      </p:pic>
      <p:sp>
        <p:nvSpPr>
          <p:cNvPr name="AutoShape 11" id="11"/>
          <p:cNvSpPr/>
          <p:nvPr/>
        </p:nvSpPr>
        <p:spPr>
          <a:xfrm rot="0" flipH="false" flipV="false">
            <a:off x="5207000" y="3302000"/>
            <a:ext cx="2667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D3EE"/>
                </a:solidFill>
                <a:latin typeface="微软雅黑"/>
                <a:ea typeface="微软雅黑"/>
                <a:cs typeface="微软雅黑"/>
                <a:sym typeface="微软雅黑"/>
              </a:rPr>
              <a:t>02. GPU Power</a:t>
            </a:r>
            <a:endParaRPr lang="en-US" sz="1100"/>
          </a:p>
        </p:txBody>
      </p:sp>
      <p:sp>
        <p:nvSpPr>
          <p:cNvPr name="AutoShape 12" id="12"/>
          <p:cNvSpPr/>
          <p:nvPr/>
        </p:nvSpPr>
        <p:spPr>
          <a:xfrm rot="0" flipH="false" flipV="false">
            <a:off x="4635500" y="4000500"/>
            <a:ext cx="2921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微软雅黑"/>
                <a:ea typeface="微软雅黑"/>
                <a:cs typeface="微软雅黑"/>
                <a:sym typeface="微软雅黑"/>
              </a:rPr>
              <a:t>Graphics Processing Units (GPUs) provided the parallel computing muscle needed to train deep neural networks. What once took years to compute was reduced to days, making it feasible to run and refine large, complex AI models efficiently.</a:t>
            </a:r>
            <a:endParaRPr lang="en-US" sz="1100"/>
          </a:p>
        </p:txBody>
      </p:sp>
      <p:sp>
        <p:nvSpPr>
          <p:cNvPr name="AutoShape 13" id="13"/>
          <p:cNvSpPr/>
          <p:nvPr/>
        </p:nvSpPr>
        <p:spPr>
          <a:xfrm rot="0" flipH="false" flipV="false">
            <a:off x="8001000" y="3048000"/>
            <a:ext cx="3429000" cy="2794000"/>
          </a:xfrm>
          <a:prstGeom prst="roundRect">
            <a:avLst>
              <a:gd name="adj" fmla="val 0"/>
            </a:avLst>
          </a:prstGeom>
          <a:solidFill>
            <a:srgbClr val="FFFFFF">
              <a:alpha val="55000"/>
            </a:srgbClr>
          </a:solidFill>
          <a:ln w="254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3302000"/>
            <a:ext cx="457200" cy="457200"/>
          </a:xfrm>
          <a:prstGeom prst="rect">
            <a:avLst/>
          </a:prstGeom>
        </p:spPr>
      </p:pic>
      <p:sp>
        <p:nvSpPr>
          <p:cNvPr name="AutoShape 15" id="15"/>
          <p:cNvSpPr/>
          <p:nvPr/>
        </p:nvSpPr>
        <p:spPr>
          <a:xfrm rot="0" flipH="false" flipV="false">
            <a:off x="8826500" y="3302000"/>
            <a:ext cx="2667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D3EE"/>
                </a:solidFill>
                <a:latin typeface="微软雅黑"/>
                <a:ea typeface="微软雅黑"/>
                <a:cs typeface="微软雅黑"/>
                <a:sym typeface="微软雅黑"/>
              </a:rPr>
              <a:t>03. Algorithmic Leaps</a:t>
            </a:r>
            <a:endParaRPr lang="en-US" sz="1100"/>
          </a:p>
        </p:txBody>
      </p:sp>
      <p:sp>
        <p:nvSpPr>
          <p:cNvPr name="AutoShape 16" id="16"/>
          <p:cNvSpPr/>
          <p:nvPr/>
        </p:nvSpPr>
        <p:spPr>
          <a:xfrm rot="0" flipH="false" flipV="false">
            <a:off x="8255000" y="4000500"/>
            <a:ext cx="2921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微软雅黑"/>
                <a:ea typeface="微软雅黑"/>
                <a:cs typeface="微软雅黑"/>
                <a:sym typeface="微软雅黑"/>
              </a:rPr>
              <a:t>Innovations like Transformers and Residual Networks solved long-standing training bottlenecks. These new techniques enabled the creation of deeper, more sophisticated neural networks that excel at understanding context, recognizing speech, and generating human-like text.</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The Drivers of Progress</a:t>
            </a:r>
            <a:endParaRPr lang="en-US" sz="1100"/>
          </a:p>
        </p:txBody>
      </p:sp>
      <p:sp>
        <p:nvSpPr>
          <p:cNvPr name="AutoShape 4" id="4"/>
          <p:cNvSpPr/>
          <p:nvPr/>
        </p:nvSpPr>
        <p:spPr>
          <a:xfrm rot="0" flipH="false" flipV="false">
            <a:off x="762000" y="1778000"/>
            <a:ext cx="3378200" cy="43180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5801" r="5801" t="0" b="0"/>
          <a:stretch>
            <a:fillRect/>
          </a:stretch>
        </p:blipFill>
        <p:spPr>
          <a:xfrm rot="0" flipH="false" flipV="false">
            <a:off x="927100" y="2032000"/>
            <a:ext cx="3048000" cy="1714500"/>
          </a:xfrm>
          <a:prstGeom prst="roundRect">
            <a:avLst>
              <a:gd name="adj" fmla="val 5925"/>
            </a:avLst>
          </a:prstGeom>
          <a:noFill/>
          <a:ln w="12700" cmpd="sng" cap="flat">
            <a:solidFill>
              <a:srgbClr val="22D3EE">
                <a:alpha val="20000"/>
              </a:srgbClr>
            </a:solidFill>
            <a:prstDash val="solid"/>
            <a:round/>
          </a:ln>
        </p:spPr>
      </p:pic>
      <p:sp>
        <p:nvSpPr>
          <p:cNvPr name="AutoShape 6" id="6"/>
          <p:cNvSpPr/>
          <p:nvPr/>
        </p:nvSpPr>
        <p:spPr>
          <a:xfrm rot="0" flipH="false" flipV="false">
            <a:off x="927100" y="39370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D3EE"/>
                </a:solidFill>
                <a:latin typeface="微软雅黑"/>
                <a:ea typeface="微软雅黑"/>
                <a:cs typeface="微软雅黑"/>
                <a:sym typeface="微软雅黑"/>
              </a:rPr>
              <a:t>01 Big Data</a:t>
            </a:r>
            <a:endParaRPr lang="en-US" sz="1100"/>
          </a:p>
        </p:txBody>
      </p:sp>
      <p:sp>
        <p:nvSpPr>
          <p:cNvPr name="AutoShape 7" id="7"/>
          <p:cNvSpPr/>
          <p:nvPr/>
        </p:nvSpPr>
        <p:spPr>
          <a:xfrm rot="0" flipH="false" flipV="false">
            <a:off x="927100" y="4445000"/>
            <a:ext cx="30480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微软雅黑"/>
                <a:ea typeface="微软雅黑"/>
                <a:cs typeface="微软雅黑"/>
                <a:sym typeface="微软雅黑"/>
              </a:rPr>
              <a:t>The "fuel" for AI, generated by every digital interaction—photos, searches, and transactions. This massive dataset provides the essential raw material for training and refining data-hungry AI models.</a:t>
            </a:r>
            <a:endParaRPr lang="en-US" sz="1100"/>
          </a:p>
        </p:txBody>
      </p:sp>
      <p:sp>
        <p:nvSpPr>
          <p:cNvPr name="AutoShape 8" id="8"/>
          <p:cNvSpPr/>
          <p:nvPr/>
        </p:nvSpPr>
        <p:spPr>
          <a:xfrm rot="0" flipH="false" flipV="false">
            <a:off x="4406900" y="1778000"/>
            <a:ext cx="3378200" cy="43180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srcRect l="0" r="0" t="4746" b="4746"/>
          <a:stretch>
            <a:fillRect/>
          </a:stretch>
        </p:blipFill>
        <p:spPr>
          <a:xfrm rot="0" flipH="false" flipV="false">
            <a:off x="4572000" y="2032000"/>
            <a:ext cx="3048000" cy="1714500"/>
          </a:xfrm>
          <a:prstGeom prst="roundRect">
            <a:avLst>
              <a:gd name="adj" fmla="val 5925"/>
            </a:avLst>
          </a:prstGeom>
          <a:noFill/>
          <a:ln w="12700" cmpd="sng" cap="flat">
            <a:solidFill>
              <a:srgbClr val="22D3EE">
                <a:alpha val="20000"/>
              </a:srgbClr>
            </a:solidFill>
            <a:prstDash val="solid"/>
            <a:round/>
          </a:ln>
        </p:spPr>
      </p:pic>
      <p:sp>
        <p:nvSpPr>
          <p:cNvPr name="AutoShape 10" id="10"/>
          <p:cNvSpPr/>
          <p:nvPr/>
        </p:nvSpPr>
        <p:spPr>
          <a:xfrm rot="0" flipH="false" flipV="false">
            <a:off x="4572000" y="39370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D3EE"/>
                </a:solidFill>
                <a:latin typeface="微软雅黑"/>
                <a:ea typeface="微软雅黑"/>
                <a:cs typeface="微软雅黑"/>
                <a:sym typeface="微软雅黑"/>
              </a:rPr>
              <a:t>02 Powerful GPUs</a:t>
            </a:r>
            <a:endParaRPr lang="en-US" sz="1100"/>
          </a:p>
        </p:txBody>
      </p:sp>
      <p:sp>
        <p:nvSpPr>
          <p:cNvPr name="AutoShape 11" id="11"/>
          <p:cNvSpPr/>
          <p:nvPr/>
        </p:nvSpPr>
        <p:spPr>
          <a:xfrm rot="0" flipH="false" flipV="false">
            <a:off x="4572000" y="4445000"/>
            <a:ext cx="30480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微软雅黑"/>
                <a:ea typeface="微软雅黑"/>
                <a:cs typeface="微软雅黑"/>
                <a:sym typeface="微软雅黑"/>
              </a:rPr>
              <a:t>Parallel processing powerhouses that turn weeks of computation into hours. Originally for gaming, cloud computing has democratized access to this critical infrastructure, enabling rapid AI innovation.</a:t>
            </a:r>
            <a:endParaRPr lang="en-US" sz="1100"/>
          </a:p>
        </p:txBody>
      </p:sp>
      <p:sp>
        <p:nvSpPr>
          <p:cNvPr name="AutoShape 12" id="12"/>
          <p:cNvSpPr/>
          <p:nvPr/>
        </p:nvSpPr>
        <p:spPr>
          <a:xfrm rot="0" flipH="false" flipV="false">
            <a:off x="8051800" y="1778000"/>
            <a:ext cx="3378200" cy="43180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srcRect l="0" r="0" t="17770" b="17770"/>
          <a:stretch>
            <a:fillRect/>
          </a:stretch>
        </p:blipFill>
        <p:spPr>
          <a:xfrm rot="0" flipH="false" flipV="false">
            <a:off x="8216900" y="2032000"/>
            <a:ext cx="3048000" cy="1714500"/>
          </a:xfrm>
          <a:prstGeom prst="roundRect">
            <a:avLst>
              <a:gd name="adj" fmla="val 5925"/>
            </a:avLst>
          </a:prstGeom>
          <a:noFill/>
          <a:ln w="12700" cmpd="sng" cap="flat">
            <a:solidFill>
              <a:srgbClr val="22D3EE">
                <a:alpha val="20000"/>
              </a:srgbClr>
            </a:solidFill>
            <a:prstDash val="solid"/>
            <a:round/>
          </a:ln>
        </p:spPr>
      </p:pic>
      <p:sp>
        <p:nvSpPr>
          <p:cNvPr name="AutoShape 14" id="14"/>
          <p:cNvSpPr/>
          <p:nvPr/>
        </p:nvSpPr>
        <p:spPr>
          <a:xfrm rot="0" flipH="false" flipV="false">
            <a:off x="8216900" y="39370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D3EE"/>
                </a:solidFill>
                <a:latin typeface="微软雅黑"/>
                <a:ea typeface="微软雅黑"/>
                <a:cs typeface="微软雅黑"/>
                <a:sym typeface="微软雅黑"/>
              </a:rPr>
              <a:t>03 Algorithmic Breakthroughs</a:t>
            </a:r>
            <a:endParaRPr lang="en-US" sz="1100"/>
          </a:p>
        </p:txBody>
      </p:sp>
      <p:sp>
        <p:nvSpPr>
          <p:cNvPr name="AutoShape 15" id="15"/>
          <p:cNvSpPr/>
          <p:nvPr/>
        </p:nvSpPr>
        <p:spPr>
          <a:xfrm rot="0" flipH="false" flipV="false">
            <a:off x="8216900" y="4445000"/>
            <a:ext cx="30480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微软雅黑"/>
                <a:ea typeface="微软雅黑"/>
                <a:cs typeface="微软雅黑"/>
                <a:sym typeface="微软雅黑"/>
              </a:rPr>
              <a:t>Innovations like ReLU (solving vanishing gradients), Dropout (preventing overfitting), and the Transformer architecture (the backbone of ChatGPT) have unlocked AI's scalability and versatility.</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AI Across Industries</a:t>
            </a:r>
            <a:endParaRPr lang="en-US" sz="1100"/>
          </a:p>
        </p:txBody>
      </p:sp>
      <p:sp>
        <p:nvSpPr>
          <p:cNvPr name="AutoShape 4" id="4"/>
          <p:cNvSpPr/>
          <p:nvPr/>
        </p:nvSpPr>
        <p:spPr>
          <a:xfrm rot="0" flipH="false" flipV="false">
            <a:off x="762000" y="17145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151">
                    <a:alpha val="85098"/>
                  </a:srgbClr>
                </a:solidFill>
                <a:latin typeface="微软雅黑"/>
                <a:ea typeface="微软雅黑"/>
                <a:cs typeface="微软雅黑"/>
                <a:sym typeface="微软雅黑"/>
              </a:rPr>
              <a:t>AI is not confined to research labs—it’s a transformative force deployed at scale across every economic sector. From life-saving medical breakthroughs to sustainable innovation, it is reshaping the way we live, work, and solve global challenges.</a:t>
            </a:r>
            <a:endParaRPr lang="en-US" sz="1100"/>
          </a:p>
        </p:txBody>
      </p:sp>
      <p:sp>
        <p:nvSpPr>
          <p:cNvPr name="AutoShape 5" id="5"/>
          <p:cNvSpPr/>
          <p:nvPr/>
        </p:nvSpPr>
        <p:spPr>
          <a:xfrm rot="0" flipH="false" flipV="false">
            <a:off x="762000" y="2921000"/>
            <a:ext cx="3429000" cy="1587500"/>
          </a:xfrm>
          <a:prstGeom prst="roundRect">
            <a:avLst>
              <a:gd name="adj" fmla="val 0"/>
            </a:avLst>
          </a:prstGeom>
          <a:solidFill>
            <a:srgbClr val="22D3EE">
              <a:alpha val="12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111500"/>
            <a:ext cx="355600" cy="355600"/>
          </a:xfrm>
          <a:prstGeom prst="rect">
            <a:avLst/>
          </a:prstGeom>
        </p:spPr>
      </p:pic>
      <p:sp>
        <p:nvSpPr>
          <p:cNvPr name="AutoShape 7" id="7"/>
          <p:cNvSpPr/>
          <p:nvPr/>
        </p:nvSpPr>
        <p:spPr>
          <a:xfrm rot="0" flipH="false" flipV="false">
            <a:off x="1397000" y="30988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Healthcare</a:t>
            </a:r>
            <a:endParaRPr lang="en-US" sz="1100"/>
          </a:p>
        </p:txBody>
      </p:sp>
      <p:sp>
        <p:nvSpPr>
          <p:cNvPr name="AutoShape 8" id="8"/>
          <p:cNvSpPr/>
          <p:nvPr/>
        </p:nvSpPr>
        <p:spPr>
          <a:xfrm rot="0" flipH="false" flipV="false">
            <a:off x="952500" y="35814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Revolutionizing diagnostics, accelerating drug discovery, and enabling hyper-personalized treatment plans through predictive analytics.</a:t>
            </a:r>
            <a:endParaRPr lang="en-US" sz="1100"/>
          </a:p>
        </p:txBody>
      </p:sp>
      <p:sp>
        <p:nvSpPr>
          <p:cNvPr name="AutoShape 9" id="9"/>
          <p:cNvSpPr/>
          <p:nvPr/>
        </p:nvSpPr>
        <p:spPr>
          <a:xfrm rot="0" flipH="false" flipV="false">
            <a:off x="4381500" y="2921000"/>
            <a:ext cx="3429000" cy="1587500"/>
          </a:xfrm>
          <a:prstGeom prst="roundRect">
            <a:avLst>
              <a:gd name="adj" fmla="val 0"/>
            </a:avLst>
          </a:prstGeom>
          <a:solidFill>
            <a:srgbClr val="22D3EE">
              <a:alpha val="12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3111500"/>
            <a:ext cx="355600" cy="355600"/>
          </a:xfrm>
          <a:prstGeom prst="rect">
            <a:avLst/>
          </a:prstGeom>
        </p:spPr>
      </p:pic>
      <p:sp>
        <p:nvSpPr>
          <p:cNvPr name="AutoShape 11" id="11"/>
          <p:cNvSpPr/>
          <p:nvPr/>
        </p:nvSpPr>
        <p:spPr>
          <a:xfrm rot="0" flipH="false" flipV="false">
            <a:off x="5016500" y="30988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Transportation</a:t>
            </a:r>
            <a:endParaRPr lang="en-US" sz="1100"/>
          </a:p>
        </p:txBody>
      </p:sp>
      <p:sp>
        <p:nvSpPr>
          <p:cNvPr name="AutoShape 12" id="12"/>
          <p:cNvSpPr/>
          <p:nvPr/>
        </p:nvSpPr>
        <p:spPr>
          <a:xfrm rot="0" flipH="false" flipV="false">
            <a:off x="4572000" y="35814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Optimizing logistics networks, enabling autonomous vehicle perception, and reducing congestion with smart traffic management.</a:t>
            </a:r>
            <a:endParaRPr lang="en-US" sz="1100"/>
          </a:p>
        </p:txBody>
      </p:sp>
      <p:sp>
        <p:nvSpPr>
          <p:cNvPr name="AutoShape 13" id="13"/>
          <p:cNvSpPr/>
          <p:nvPr/>
        </p:nvSpPr>
        <p:spPr>
          <a:xfrm rot="0" flipH="false" flipV="false">
            <a:off x="8001000" y="2921000"/>
            <a:ext cx="3429000" cy="1587500"/>
          </a:xfrm>
          <a:prstGeom prst="roundRect">
            <a:avLst>
              <a:gd name="adj" fmla="val 0"/>
            </a:avLst>
          </a:prstGeom>
          <a:solidFill>
            <a:srgbClr val="22D3EE">
              <a:alpha val="12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3111500"/>
            <a:ext cx="355600" cy="355600"/>
          </a:xfrm>
          <a:prstGeom prst="rect">
            <a:avLst/>
          </a:prstGeom>
        </p:spPr>
      </p:pic>
      <p:sp>
        <p:nvSpPr>
          <p:cNvPr name="AutoShape 15" id="15"/>
          <p:cNvSpPr/>
          <p:nvPr/>
        </p:nvSpPr>
        <p:spPr>
          <a:xfrm rot="0" flipH="false" flipV="false">
            <a:off x="8636000" y="30988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Finance</a:t>
            </a:r>
            <a:endParaRPr lang="en-US" sz="1100"/>
          </a:p>
        </p:txBody>
      </p:sp>
      <p:sp>
        <p:nvSpPr>
          <p:cNvPr name="AutoShape 16" id="16"/>
          <p:cNvSpPr/>
          <p:nvPr/>
        </p:nvSpPr>
        <p:spPr>
          <a:xfrm rot="0" flipH="false" flipV="false">
            <a:off x="8191500" y="35814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Powering real-time fraud detection, algorithmic trading strategies, and AI-driven financial planning for individuals.</a:t>
            </a:r>
            <a:endParaRPr lang="en-US" sz="1100"/>
          </a:p>
        </p:txBody>
      </p:sp>
      <p:sp>
        <p:nvSpPr>
          <p:cNvPr name="AutoShape 17" id="17"/>
          <p:cNvSpPr/>
          <p:nvPr/>
        </p:nvSpPr>
        <p:spPr>
          <a:xfrm rot="0" flipH="false" flipV="false">
            <a:off x="762000" y="4826000"/>
            <a:ext cx="3429000" cy="1587500"/>
          </a:xfrm>
          <a:prstGeom prst="roundRect">
            <a:avLst>
              <a:gd name="adj" fmla="val 0"/>
            </a:avLst>
          </a:prstGeom>
          <a:solidFill>
            <a:srgbClr val="22D3EE">
              <a:alpha val="12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5016500"/>
            <a:ext cx="355600" cy="355600"/>
          </a:xfrm>
          <a:prstGeom prst="rect">
            <a:avLst/>
          </a:prstGeom>
        </p:spPr>
      </p:pic>
      <p:sp>
        <p:nvSpPr>
          <p:cNvPr name="AutoShape 19" id="19"/>
          <p:cNvSpPr/>
          <p:nvPr/>
        </p:nvSpPr>
        <p:spPr>
          <a:xfrm rot="0" flipH="false" flipV="false">
            <a:off x="1397000" y="50038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Climate &amp; Environment</a:t>
            </a:r>
            <a:endParaRPr lang="en-US" sz="1100"/>
          </a:p>
        </p:txBody>
      </p:sp>
      <p:sp>
        <p:nvSpPr>
          <p:cNvPr name="AutoShape 20" id="20"/>
          <p:cNvSpPr/>
          <p:nvPr/>
        </p:nvSpPr>
        <p:spPr>
          <a:xfrm rot="0" flipH="false" flipV="false">
            <a:off x="952500" y="54864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Modeling complex climate systems, optimizing renewable energy distribution, and monitoring deforestation with precision.</a:t>
            </a:r>
            <a:endParaRPr lang="en-US" sz="1100"/>
          </a:p>
        </p:txBody>
      </p:sp>
      <p:sp>
        <p:nvSpPr>
          <p:cNvPr name="AutoShape 21" id="21"/>
          <p:cNvSpPr/>
          <p:nvPr/>
        </p:nvSpPr>
        <p:spPr>
          <a:xfrm rot="0" flipH="false" flipV="false">
            <a:off x="4381500" y="4826000"/>
            <a:ext cx="3429000" cy="1587500"/>
          </a:xfrm>
          <a:prstGeom prst="roundRect">
            <a:avLst>
              <a:gd name="adj" fmla="val 0"/>
            </a:avLst>
          </a:prstGeom>
          <a:solidFill>
            <a:srgbClr val="22D3EE">
              <a:alpha val="12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572000" y="5016500"/>
            <a:ext cx="355600" cy="355600"/>
          </a:xfrm>
          <a:prstGeom prst="rect">
            <a:avLst/>
          </a:prstGeom>
        </p:spPr>
      </p:pic>
      <p:sp>
        <p:nvSpPr>
          <p:cNvPr name="AutoShape 23" id="23"/>
          <p:cNvSpPr/>
          <p:nvPr/>
        </p:nvSpPr>
        <p:spPr>
          <a:xfrm rot="0" flipH="false" flipV="false">
            <a:off x="5016500" y="50038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Entertainment</a:t>
            </a:r>
            <a:endParaRPr lang="en-US" sz="1100"/>
          </a:p>
        </p:txBody>
      </p:sp>
      <p:sp>
        <p:nvSpPr>
          <p:cNvPr name="AutoShape 24" id="24"/>
          <p:cNvSpPr/>
          <p:nvPr/>
        </p:nvSpPr>
        <p:spPr>
          <a:xfrm rot="0" flipH="false" flipV="false">
            <a:off x="4572000" y="54864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Crafting hyper-personalized content recommendations, generating visual art, and enhancing immersive gaming experiences.</a:t>
            </a:r>
            <a:endParaRPr lang="en-US" sz="1100"/>
          </a:p>
        </p:txBody>
      </p:sp>
      <p:sp>
        <p:nvSpPr>
          <p:cNvPr name="AutoShape 25" id="25"/>
          <p:cNvSpPr/>
          <p:nvPr/>
        </p:nvSpPr>
        <p:spPr>
          <a:xfrm rot="0" flipH="false" flipV="false">
            <a:off x="8001000" y="4826000"/>
            <a:ext cx="3429000" cy="1587500"/>
          </a:xfrm>
          <a:prstGeom prst="roundRect">
            <a:avLst>
              <a:gd name="adj" fmla="val 0"/>
            </a:avLst>
          </a:prstGeom>
          <a:solidFill>
            <a:srgbClr val="22D3EE">
              <a:alpha val="12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191500" y="5016500"/>
            <a:ext cx="355600" cy="355600"/>
          </a:xfrm>
          <a:prstGeom prst="rect">
            <a:avLst/>
          </a:prstGeom>
        </p:spPr>
      </p:pic>
      <p:sp>
        <p:nvSpPr>
          <p:cNvPr name="AutoShape 27" id="27"/>
          <p:cNvSpPr/>
          <p:nvPr/>
        </p:nvSpPr>
        <p:spPr>
          <a:xfrm rot="0" flipH="false" flipV="false">
            <a:off x="8636000" y="50038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Science &amp; Research</a:t>
            </a:r>
            <a:endParaRPr lang="en-US" sz="1100"/>
          </a:p>
        </p:txBody>
      </p:sp>
      <p:sp>
        <p:nvSpPr>
          <p:cNvPr name="AutoShape 28" id="28"/>
          <p:cNvSpPr/>
          <p:nvPr/>
        </p:nvSpPr>
        <p:spPr>
          <a:xfrm rot="0" flipH="false" flipV="false">
            <a:off x="8191500" y="54864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Accelerating breakthroughs in genomics, materials science, and particle physics through high-performance computing.</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AI in Healthcare: Saving Lives and Accelerating Discovery</a:t>
            </a:r>
            <a:endParaRPr lang="en-US" sz="1100"/>
          </a:p>
        </p:txBody>
      </p:sp>
      <p:pic>
        <p:nvPicPr>
          <p:cNvPr name="Picture 4" id="4"/>
          <p:cNvPicPr>
            <a:picLocks noChangeAspect="true"/>
          </p:cNvPicPr>
          <p:nvPr/>
        </p:nvPicPr>
        <p:blipFill>
          <a:blip r:embed="rId3"/>
          <a:srcRect l="32" r="32" t="0" b="0"/>
          <a:stretch>
            <a:fillRect/>
          </a:stretch>
        </p:blipFill>
        <p:spPr>
          <a:xfrm rot="0" flipH="false" flipV="false">
            <a:off x="762000" y="2032000"/>
            <a:ext cx="4318000" cy="2413000"/>
          </a:xfrm>
          <a:prstGeom prst="roundRect">
            <a:avLst>
              <a:gd name="adj" fmla="val 6315"/>
            </a:avLst>
          </a:prstGeom>
          <a:noFill/>
          <a:ln w="25400" cmpd="sng" cap="flat">
            <a:solidFill>
              <a:srgbClr val="22D3EE">
                <a:alpha val="40000"/>
              </a:srgbClr>
            </a:solidFill>
            <a:prstDash val="solid"/>
            <a:round/>
          </a:ln>
          <a:effectLst>
            <a:outerShdw dir="2700000" dist="101600" blurRad="203200" algn="tl" rotWithShape="false">
              <a:srgbClr val="000000">
                <a:alpha val="15000"/>
              </a:srgbClr>
            </a:outerShdw>
          </a:effectLst>
        </p:spPr>
      </p:pic>
      <p:sp>
        <p:nvSpPr>
          <p:cNvPr name="AutoShape 5" id="5"/>
          <p:cNvSpPr/>
          <p:nvPr/>
        </p:nvSpPr>
        <p:spPr>
          <a:xfrm rot="0" flipH="false" flipV="false">
            <a:off x="762000" y="4826000"/>
            <a:ext cx="431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微软雅黑"/>
                <a:ea typeface="微软雅黑"/>
                <a:cs typeface="微软雅黑"/>
                <a:sym typeface="微软雅黑"/>
              </a:rPr>
              <a:t>从辅助诊断到个性化治疗，人工智能正在重塑现代医疗的每一个环节。它不仅是医生的得力助手，更是加速生命科学突破的核心引擎，为全球患者带来更精准、更及时的医疗服务。</a:t>
            </a:r>
            <a:endParaRPr lang="en-US" sz="1100"/>
          </a:p>
        </p:txBody>
      </p:sp>
      <p:sp>
        <p:nvSpPr>
          <p:cNvPr name="AutoShape 6" id="6"/>
          <p:cNvSpPr/>
          <p:nvPr/>
        </p:nvSpPr>
        <p:spPr>
          <a:xfrm rot="0" flipH="false" flipV="false">
            <a:off x="5461000" y="2032000"/>
            <a:ext cx="3111500" cy="1841500"/>
          </a:xfrm>
          <a:prstGeom prst="roundRect">
            <a:avLst>
              <a:gd name="adj" fmla="val 0"/>
            </a:avLst>
          </a:prstGeom>
          <a:solidFill>
            <a:srgbClr val="FFFFFF">
              <a:alpha val="65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651500" y="2222500"/>
            <a:ext cx="304800" cy="304800"/>
          </a:xfrm>
          <a:prstGeom prst="rect">
            <a:avLst/>
          </a:prstGeom>
        </p:spPr>
      </p:pic>
      <p:sp>
        <p:nvSpPr>
          <p:cNvPr name="AutoShape 8" id="8"/>
          <p:cNvSpPr/>
          <p:nvPr/>
        </p:nvSpPr>
        <p:spPr>
          <a:xfrm rot="0" flipH="false" flipV="false">
            <a:off x="6032500" y="2197100"/>
            <a:ext cx="254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01. Medical Imaging</a:t>
            </a:r>
            <a:endParaRPr lang="en-US" sz="1100"/>
          </a:p>
        </p:txBody>
      </p:sp>
      <p:sp>
        <p:nvSpPr>
          <p:cNvPr name="AutoShape 9" id="9"/>
          <p:cNvSpPr/>
          <p:nvPr/>
        </p:nvSpPr>
        <p:spPr>
          <a:xfrm rot="0" flipH="false" flipV="false">
            <a:off x="5651500" y="2667000"/>
            <a:ext cx="2730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微软雅黑"/>
                <a:ea typeface="微软雅黑"/>
                <a:cs typeface="微软雅黑"/>
                <a:sym typeface="微软雅黑"/>
              </a:rPr>
              <a:t>精准解读X光与CT影像，将乳腺癌筛查假阴性率降低9.4%，诊断精度媲美资深放射科专家。</a:t>
            </a:r>
            <a:endParaRPr lang="en-US" sz="1100"/>
          </a:p>
        </p:txBody>
      </p:sp>
      <p:sp>
        <p:nvSpPr>
          <p:cNvPr name="AutoShape 10" id="10"/>
          <p:cNvSpPr/>
          <p:nvPr/>
        </p:nvSpPr>
        <p:spPr>
          <a:xfrm rot="0" flipH="false" flipV="false">
            <a:off x="8699500" y="2032000"/>
            <a:ext cx="3111500" cy="1841500"/>
          </a:xfrm>
          <a:prstGeom prst="roundRect">
            <a:avLst>
              <a:gd name="adj" fmla="val 0"/>
            </a:avLst>
          </a:prstGeom>
          <a:solidFill>
            <a:srgbClr val="FFFFFF">
              <a:alpha val="65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890000" y="2222500"/>
            <a:ext cx="304800" cy="304800"/>
          </a:xfrm>
          <a:prstGeom prst="rect">
            <a:avLst/>
          </a:prstGeom>
        </p:spPr>
      </p:pic>
      <p:sp>
        <p:nvSpPr>
          <p:cNvPr name="AutoShape 12" id="12"/>
          <p:cNvSpPr/>
          <p:nvPr/>
        </p:nvSpPr>
        <p:spPr>
          <a:xfrm rot="0" flipH="false" flipV="false">
            <a:off x="9271000" y="2197100"/>
            <a:ext cx="254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02. Predictive Care</a:t>
            </a:r>
            <a:endParaRPr lang="en-US" sz="1100"/>
          </a:p>
        </p:txBody>
      </p:sp>
      <p:sp>
        <p:nvSpPr>
          <p:cNvPr name="AutoShape 13" id="13"/>
          <p:cNvSpPr/>
          <p:nvPr/>
        </p:nvSpPr>
        <p:spPr>
          <a:xfrm rot="0" flipH="false" flipV="false">
            <a:off x="8890000" y="2667000"/>
            <a:ext cx="2730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微软雅黑"/>
                <a:ea typeface="微软雅黑"/>
                <a:cs typeface="微软雅黑"/>
                <a:sym typeface="微软雅黑"/>
              </a:rPr>
              <a:t>实时分析生命体征数据，能提前数小时预警患者病情恶化，帮助医护人员实现主动式干预。</a:t>
            </a:r>
            <a:endParaRPr lang="en-US" sz="1100"/>
          </a:p>
        </p:txBody>
      </p:sp>
      <p:sp>
        <p:nvSpPr>
          <p:cNvPr name="AutoShape 14" id="14"/>
          <p:cNvSpPr/>
          <p:nvPr/>
        </p:nvSpPr>
        <p:spPr>
          <a:xfrm rot="0" flipH="false" flipV="false">
            <a:off x="5461000" y="4127500"/>
            <a:ext cx="3111500" cy="1841500"/>
          </a:xfrm>
          <a:prstGeom prst="roundRect">
            <a:avLst>
              <a:gd name="adj" fmla="val 0"/>
            </a:avLst>
          </a:prstGeom>
          <a:solidFill>
            <a:srgbClr val="FFFFFF">
              <a:alpha val="65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651500" y="4318000"/>
            <a:ext cx="304800" cy="304800"/>
          </a:xfrm>
          <a:prstGeom prst="rect">
            <a:avLst/>
          </a:prstGeom>
        </p:spPr>
      </p:pic>
      <p:sp>
        <p:nvSpPr>
          <p:cNvPr name="AutoShape 16" id="16"/>
          <p:cNvSpPr/>
          <p:nvPr/>
        </p:nvSpPr>
        <p:spPr>
          <a:xfrm rot="0" flipH="false" flipV="false">
            <a:off x="6032500" y="4292600"/>
            <a:ext cx="254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03. Drug Discovery</a:t>
            </a:r>
            <a:endParaRPr lang="en-US" sz="1100"/>
          </a:p>
        </p:txBody>
      </p:sp>
      <p:sp>
        <p:nvSpPr>
          <p:cNvPr name="AutoShape 17" id="17"/>
          <p:cNvSpPr/>
          <p:nvPr/>
        </p:nvSpPr>
        <p:spPr>
          <a:xfrm rot="0" flipH="false" flipV="false">
            <a:off x="5651500" y="4762500"/>
            <a:ext cx="2730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微软雅黑"/>
                <a:ea typeface="微软雅黑"/>
                <a:cs typeface="微软雅黑"/>
                <a:sym typeface="微软雅黑"/>
              </a:rPr>
              <a:t>在虚拟环境中快速筛选数百万分子候选物，大幅缩短新药研发周期，降低研发成本与风险。</a:t>
            </a:r>
            <a:endParaRPr lang="en-US" sz="1100"/>
          </a:p>
        </p:txBody>
      </p:sp>
      <p:sp>
        <p:nvSpPr>
          <p:cNvPr name="AutoShape 18" id="18"/>
          <p:cNvSpPr/>
          <p:nvPr/>
        </p:nvSpPr>
        <p:spPr>
          <a:xfrm rot="0" flipH="false" flipV="false">
            <a:off x="8699500" y="4127500"/>
            <a:ext cx="3111500" cy="1841500"/>
          </a:xfrm>
          <a:prstGeom prst="roundRect">
            <a:avLst>
              <a:gd name="adj" fmla="val 0"/>
            </a:avLst>
          </a:prstGeom>
          <a:solidFill>
            <a:srgbClr val="FFFFFF">
              <a:alpha val="65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890000" y="4318000"/>
            <a:ext cx="304800" cy="304800"/>
          </a:xfrm>
          <a:prstGeom prst="rect">
            <a:avLst/>
          </a:prstGeom>
        </p:spPr>
      </p:pic>
      <p:sp>
        <p:nvSpPr>
          <p:cNvPr name="AutoShape 20" id="20"/>
          <p:cNvSpPr/>
          <p:nvPr/>
        </p:nvSpPr>
        <p:spPr>
          <a:xfrm rot="0" flipH="false" flipV="false">
            <a:off x="9271000" y="4292600"/>
            <a:ext cx="254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04. Smart Prosthetics</a:t>
            </a:r>
            <a:endParaRPr lang="en-US" sz="1100"/>
          </a:p>
        </p:txBody>
      </p:sp>
      <p:sp>
        <p:nvSpPr>
          <p:cNvPr name="AutoShape 21" id="21"/>
          <p:cNvSpPr/>
          <p:nvPr/>
        </p:nvSpPr>
        <p:spPr>
          <a:xfrm rot="0" flipH="false" flipV="false">
            <a:off x="8890000" y="4762500"/>
            <a:ext cx="2730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微软雅黑"/>
                <a:ea typeface="微软雅黑"/>
                <a:cs typeface="微软雅黑"/>
                <a:sym typeface="微软雅黑"/>
              </a:rPr>
              <a:t>AI驱动的智能假肢可学习并实时适配用户的步态与习惯，重建自然、流畅的肢体运动能力。</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AI in Transportation: Driving the Future</a:t>
            </a:r>
            <a:endParaRPr lang="en-US" sz="1100"/>
          </a:p>
        </p:txBody>
      </p:sp>
      <p:pic>
        <p:nvPicPr>
          <p:cNvPr name="Picture 4" id="4"/>
          <p:cNvPicPr>
            <a:picLocks noChangeAspect="true"/>
          </p:cNvPicPr>
          <p:nvPr/>
        </p:nvPicPr>
        <p:blipFill>
          <a:blip r:embed="rId3"/>
          <a:srcRect l="58" r="58" t="0" b="0"/>
          <a:stretch>
            <a:fillRect/>
          </a:stretch>
        </p:blipFill>
        <p:spPr>
          <a:xfrm rot="0" flipH="false" flipV="false">
            <a:off x="762000" y="1905000"/>
            <a:ext cx="4826000" cy="2717800"/>
          </a:xfrm>
          <a:prstGeom prst="roundRect">
            <a:avLst>
              <a:gd name="adj" fmla="val 5607"/>
            </a:avLst>
          </a:prstGeom>
          <a:noFill/>
          <a:ln w="25400" cmpd="sng" cap="flat">
            <a:solidFill>
              <a:srgbClr val="22D3EE">
                <a:alpha val="60000"/>
              </a:srgbClr>
            </a:solidFill>
            <a:prstDash val="solid"/>
            <a:round/>
          </a:ln>
          <a:effectLst>
            <a:outerShdw dir="2700000" dist="76200" blurRad="190500" algn="tl" rotWithShape="false">
              <a:srgbClr val="000000">
                <a:alpha val="12000"/>
              </a:srgbClr>
            </a:outerShdw>
          </a:effectLst>
        </p:spPr>
      </p:pic>
      <p:sp>
        <p:nvSpPr>
          <p:cNvPr name="AutoShape 5" id="5"/>
          <p:cNvSpPr/>
          <p:nvPr/>
        </p:nvSpPr>
        <p:spPr>
          <a:xfrm rot="0" flipH="false" flipV="false">
            <a:off x="762000" y="4889500"/>
            <a:ext cx="482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微软雅黑"/>
                <a:ea typeface="微软雅黑"/>
                <a:cs typeface="微软雅黑"/>
                <a:sym typeface="微软雅黑"/>
              </a:rPr>
              <a:t>From self-driving fleets to intelligent logistics, AI is redefining mobility. It not only enhances road safety but also drives efficiency, sustainability, and convenience across every corner of the transportation landscape.</a:t>
            </a:r>
            <a:endParaRPr lang="en-US" sz="1100"/>
          </a:p>
        </p:txBody>
      </p:sp>
      <p:sp>
        <p:nvSpPr>
          <p:cNvPr name="AutoShape 6" id="6"/>
          <p:cNvSpPr/>
          <p:nvPr/>
        </p:nvSpPr>
        <p:spPr>
          <a:xfrm rot="0" flipH="false" flipV="false">
            <a:off x="5969000" y="1905000"/>
            <a:ext cx="2857500" cy="17145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159500" y="2095500"/>
            <a:ext cx="304800" cy="304800"/>
          </a:xfrm>
          <a:prstGeom prst="rect">
            <a:avLst/>
          </a:prstGeom>
        </p:spPr>
      </p:pic>
      <p:sp>
        <p:nvSpPr>
          <p:cNvPr name="AutoShape 8" id="8"/>
          <p:cNvSpPr/>
          <p:nvPr/>
        </p:nvSpPr>
        <p:spPr>
          <a:xfrm rot="0" flipH="false" flipV="false">
            <a:off x="6540500" y="2082800"/>
            <a:ext cx="2222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Autonomous Vehicles</a:t>
            </a:r>
            <a:endParaRPr lang="en-US" sz="1100"/>
          </a:p>
        </p:txBody>
      </p:sp>
      <p:sp>
        <p:nvSpPr>
          <p:cNvPr name="AutoShape 9" id="9"/>
          <p:cNvSpPr/>
          <p:nvPr/>
        </p:nvSpPr>
        <p:spPr>
          <a:xfrm rot="0" flipH="false" flipV="false">
            <a:off x="6159500" y="2565400"/>
            <a:ext cx="254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AI perception systems "see" the road, detecting pedestrians and predicting motion to navigate safely, as demonstrated by Waymo's millions of autonomous miles.</a:t>
            </a:r>
            <a:endParaRPr lang="en-US" sz="1100"/>
          </a:p>
        </p:txBody>
      </p:sp>
      <p:sp>
        <p:nvSpPr>
          <p:cNvPr name="AutoShape 10" id="10"/>
          <p:cNvSpPr/>
          <p:nvPr/>
        </p:nvSpPr>
        <p:spPr>
          <a:xfrm rot="0" flipH="false" flipV="false">
            <a:off x="9017000" y="1905000"/>
            <a:ext cx="2857500" cy="17145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207500" y="2095500"/>
            <a:ext cx="304800" cy="304800"/>
          </a:xfrm>
          <a:prstGeom prst="rect">
            <a:avLst/>
          </a:prstGeom>
        </p:spPr>
      </p:pic>
      <p:sp>
        <p:nvSpPr>
          <p:cNvPr name="AutoShape 12" id="12"/>
          <p:cNvSpPr/>
          <p:nvPr/>
        </p:nvSpPr>
        <p:spPr>
          <a:xfrm rot="0" flipH="false" flipV="false">
            <a:off x="9588500" y="2082800"/>
            <a:ext cx="2222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Route Optimization</a:t>
            </a:r>
            <a:endParaRPr lang="en-US" sz="1100"/>
          </a:p>
        </p:txBody>
      </p:sp>
      <p:sp>
        <p:nvSpPr>
          <p:cNvPr name="AutoShape 13" id="13"/>
          <p:cNvSpPr/>
          <p:nvPr/>
        </p:nvSpPr>
        <p:spPr>
          <a:xfrm rot="0" flipH="false" flipV="false">
            <a:off x="9207500" y="2565400"/>
            <a:ext cx="254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AI algorithms compute the most fuel-efficient paths for delivery fleets, saving millions of gallons of fuel annually for logistics leaders like UPS.</a:t>
            </a:r>
            <a:endParaRPr lang="en-US" sz="1100"/>
          </a:p>
        </p:txBody>
      </p:sp>
      <p:sp>
        <p:nvSpPr>
          <p:cNvPr name="AutoShape 14" id="14"/>
          <p:cNvSpPr/>
          <p:nvPr/>
        </p:nvSpPr>
        <p:spPr>
          <a:xfrm rot="0" flipH="false" flipV="false">
            <a:off x="5969000" y="3937000"/>
            <a:ext cx="2857500" cy="17145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159500" y="4127500"/>
            <a:ext cx="304800" cy="304800"/>
          </a:xfrm>
          <a:prstGeom prst="rect">
            <a:avLst/>
          </a:prstGeom>
        </p:spPr>
      </p:pic>
      <p:sp>
        <p:nvSpPr>
          <p:cNvPr name="AutoShape 16" id="16"/>
          <p:cNvSpPr/>
          <p:nvPr/>
        </p:nvSpPr>
        <p:spPr>
          <a:xfrm rot="0" flipH="false" flipV="false">
            <a:off x="6540500" y="4114800"/>
            <a:ext cx="2222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Smart Traffic Control</a:t>
            </a:r>
            <a:endParaRPr lang="en-US" sz="1100"/>
          </a:p>
        </p:txBody>
      </p:sp>
      <p:sp>
        <p:nvSpPr>
          <p:cNvPr name="AutoShape 17" id="17"/>
          <p:cNvSpPr/>
          <p:nvPr/>
        </p:nvSpPr>
        <p:spPr>
          <a:xfrm rot="0" flipH="false" flipV="false">
            <a:off x="6159500" y="4597400"/>
            <a:ext cx="254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In smart cities, AI dynamically adjusts traffic light timings in real-time, easing bottlenecks and reducing commute times for urban dwellers.</a:t>
            </a:r>
            <a:endParaRPr lang="en-US" sz="1100"/>
          </a:p>
        </p:txBody>
      </p:sp>
      <p:sp>
        <p:nvSpPr>
          <p:cNvPr name="AutoShape 18" id="18"/>
          <p:cNvSpPr/>
          <p:nvPr/>
        </p:nvSpPr>
        <p:spPr>
          <a:xfrm rot="0" flipH="false" flipV="false">
            <a:off x="9017000" y="3937000"/>
            <a:ext cx="2857500" cy="17145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207500" y="4127500"/>
            <a:ext cx="304800" cy="304800"/>
          </a:xfrm>
          <a:prstGeom prst="rect">
            <a:avLst/>
          </a:prstGeom>
        </p:spPr>
      </p:pic>
      <p:sp>
        <p:nvSpPr>
          <p:cNvPr name="AutoShape 20" id="20"/>
          <p:cNvSpPr/>
          <p:nvPr/>
        </p:nvSpPr>
        <p:spPr>
          <a:xfrm rot="0" flipH="false" flipV="false">
            <a:off x="9588500" y="4114800"/>
            <a:ext cx="2222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Flight Delay Prediction</a:t>
            </a:r>
            <a:endParaRPr lang="en-US" sz="1100"/>
          </a:p>
        </p:txBody>
      </p:sp>
      <p:sp>
        <p:nvSpPr>
          <p:cNvPr name="AutoShape 21" id="21"/>
          <p:cNvSpPr/>
          <p:nvPr/>
        </p:nvSpPr>
        <p:spPr>
          <a:xfrm rot="0" flipH="false" flipV="false">
            <a:off x="9207500" y="4597400"/>
            <a:ext cx="254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By analyzing weather, air traffic, and historical data, AI predicts flight disruptions early, allowing for better scheduling and passenger communication.</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AI in Finance &amp; Environment</a:t>
            </a:r>
            <a:endParaRPr lang="en-US" sz="1100"/>
          </a:p>
        </p:txBody>
      </p:sp>
      <p:sp>
        <p:nvSpPr>
          <p:cNvPr name="AutoShape 4" id="4"/>
          <p:cNvSpPr/>
          <p:nvPr/>
        </p:nvSpPr>
        <p:spPr>
          <a:xfrm rot="0" flipH="false" flipV="false">
            <a:off x="762000" y="1778000"/>
            <a:ext cx="5207000" cy="4445000"/>
          </a:xfrm>
          <a:prstGeom prst="roundRect">
            <a:avLst>
              <a:gd name="adj" fmla="val 0"/>
            </a:avLst>
          </a:prstGeom>
          <a:solidFill>
            <a:srgbClr val="FFFFFF">
              <a:alpha val="6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6195" b="6195"/>
          <a:stretch>
            <a:fillRect/>
          </a:stretch>
        </p:blipFill>
        <p:spPr>
          <a:xfrm rot="0" flipH="false" flipV="false">
            <a:off x="1016000" y="2032000"/>
            <a:ext cx="2540000" cy="1651000"/>
          </a:xfrm>
          <a:prstGeom prst="roundRect">
            <a:avLst>
              <a:gd name="adj" fmla="val 9230"/>
            </a:avLst>
          </a:prstGeom>
          <a:noFill/>
          <a:ln w="25400" cmpd="sng" cap="flat">
            <a:solidFill>
              <a:srgbClr val="22D3EE">
                <a:alpha val="100000"/>
              </a:srgbClr>
            </a:solidFill>
            <a:prstDash val="solid"/>
            <a:round/>
          </a:ln>
        </p:spPr>
      </p:pic>
      <p:sp>
        <p:nvSpPr>
          <p:cNvPr name="AutoShape 6" id="6"/>
          <p:cNvSpPr/>
          <p:nvPr/>
        </p:nvSpPr>
        <p:spPr>
          <a:xfrm rot="0" flipH="false" flipV="false">
            <a:off x="3683000" y="2032000"/>
            <a:ext cx="2159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2D3EE"/>
                </a:solidFill>
                <a:latin typeface="微软雅黑"/>
                <a:ea typeface="微软雅黑"/>
                <a:cs typeface="微软雅黑"/>
                <a:sym typeface="微软雅黑"/>
              </a:rPr>
              <a:t>Finance</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937000"/>
            <a:ext cx="279400" cy="279400"/>
          </a:xfrm>
          <a:prstGeom prst="rect">
            <a:avLst/>
          </a:prstGeom>
        </p:spPr>
      </p:pic>
      <p:sp>
        <p:nvSpPr>
          <p:cNvPr name="AutoShape 8" id="8"/>
          <p:cNvSpPr/>
          <p:nvPr/>
        </p:nvSpPr>
        <p:spPr>
          <a:xfrm rot="0" flipH="false" flipV="false">
            <a:off x="1397000" y="3911600"/>
            <a:ext cx="4508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Fraud Detection:</a:t>
            </a:r>
            <a:r>
              <a:rPr lang="en-US" b="false" i="false" strike="noStrike" u="none" sz="1300">
                <a:solidFill>
                  <a:srgbClr val="374151"/>
                </a:solidFill>
                <a:latin typeface="Noto Sans SC"/>
                <a:ea typeface="Noto Sans SC"/>
                <a:cs typeface="Noto Sans SC"/>
                <a:sym typeface="Noto Sans SC"/>
              </a:rPr>
              <a:t>AI monitors millions of transactions in real-time, instantly flagging suspicious patterns that evade human analysts.</a:t>
            </a:r>
            <a:endParaRPr lang="en-US" sz="1100"/>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737100"/>
            <a:ext cx="279400" cy="279400"/>
          </a:xfrm>
          <a:prstGeom prst="rect">
            <a:avLst/>
          </a:prstGeom>
        </p:spPr>
      </p:pic>
      <p:sp>
        <p:nvSpPr>
          <p:cNvPr name="AutoShape 10" id="10"/>
          <p:cNvSpPr/>
          <p:nvPr/>
        </p:nvSpPr>
        <p:spPr>
          <a:xfrm rot="0" flipH="false" flipV="false">
            <a:off x="1397000" y="4711700"/>
            <a:ext cx="4508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Algorithmic Trading:</a:t>
            </a:r>
            <a:r>
              <a:rPr lang="en-US" b="false" i="false" strike="noStrike" u="none" sz="1300">
                <a:solidFill>
                  <a:srgbClr val="374151"/>
                </a:solidFill>
                <a:latin typeface="Noto Sans SC"/>
                <a:ea typeface="Noto Sans SC"/>
                <a:cs typeface="Noto Sans SC"/>
                <a:sym typeface="Noto Sans SC"/>
              </a:rPr>
              <a:t>Executes high-frequency, complex trading strategies in microseconds to capitalize on market inefficiencies.</a:t>
            </a:r>
            <a:endParaRPr lang="en-US" sz="1100"/>
          </a:p>
        </p:txBody>
      </p:sp>
      <p:pic>
        <p:nvPicPr>
          <p:cNvPr name="Picture 11" id="1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499100"/>
            <a:ext cx="279400" cy="279400"/>
          </a:xfrm>
          <a:prstGeom prst="rect">
            <a:avLst/>
          </a:prstGeom>
        </p:spPr>
      </p:pic>
      <p:sp>
        <p:nvSpPr>
          <p:cNvPr name="AutoShape 12" id="12"/>
          <p:cNvSpPr/>
          <p:nvPr/>
        </p:nvSpPr>
        <p:spPr>
          <a:xfrm rot="0" flipH="false" flipV="false">
            <a:off x="1397000" y="5473700"/>
            <a:ext cx="4508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Credit Scoring:</a:t>
            </a:r>
            <a:r>
              <a:rPr lang="en-US" b="false" i="false" strike="noStrike" u="none" sz="1300">
                <a:solidFill>
                  <a:srgbClr val="374151"/>
                </a:solidFill>
                <a:latin typeface="Noto Sans SC"/>
                <a:ea typeface="Noto Sans SC"/>
                <a:cs typeface="Noto Sans SC"/>
                <a:sym typeface="Noto Sans SC"/>
              </a:rPr>
              <a:t>Leverages machine learning to assess creditworthiness with higher accuracy than traditional FICO models.</a:t>
            </a:r>
            <a:endParaRPr lang="en-US" sz="1100"/>
          </a:p>
        </p:txBody>
      </p:sp>
      <p:sp>
        <p:nvSpPr>
          <p:cNvPr name="AutoShape 13" id="13"/>
          <p:cNvSpPr/>
          <p:nvPr/>
        </p:nvSpPr>
        <p:spPr>
          <a:xfrm rot="0" flipH="false" flipV="false">
            <a:off x="6223000" y="1778000"/>
            <a:ext cx="5207000" cy="4445000"/>
          </a:xfrm>
          <a:prstGeom prst="roundRect">
            <a:avLst>
              <a:gd name="adj" fmla="val 0"/>
            </a:avLst>
          </a:prstGeom>
          <a:solidFill>
            <a:srgbClr val="FFFFFF">
              <a:alpha val="6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10"/>
          <a:srcRect l="0" r="0" t="1250" b="1249"/>
          <a:stretch>
            <a:fillRect/>
          </a:stretch>
        </p:blipFill>
        <p:spPr>
          <a:xfrm rot="0" flipH="false" flipV="false">
            <a:off x="6477000" y="2032000"/>
            <a:ext cx="2540000" cy="1651000"/>
          </a:xfrm>
          <a:prstGeom prst="roundRect">
            <a:avLst>
              <a:gd name="adj" fmla="val 9230"/>
            </a:avLst>
          </a:prstGeom>
          <a:noFill/>
          <a:ln w="25400" cmpd="sng" cap="flat">
            <a:solidFill>
              <a:srgbClr val="22D3EE">
                <a:alpha val="100000"/>
              </a:srgbClr>
            </a:solidFill>
            <a:prstDash val="solid"/>
            <a:round/>
          </a:ln>
        </p:spPr>
      </p:pic>
      <p:sp>
        <p:nvSpPr>
          <p:cNvPr name="AutoShape 15" id="15"/>
          <p:cNvSpPr/>
          <p:nvPr/>
        </p:nvSpPr>
        <p:spPr>
          <a:xfrm rot="0" flipH="false" flipV="false">
            <a:off x="9144000" y="2032000"/>
            <a:ext cx="228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2D3EE"/>
                </a:solidFill>
                <a:latin typeface="微软雅黑"/>
                <a:ea typeface="微软雅黑"/>
                <a:cs typeface="微软雅黑"/>
                <a:sym typeface="微软雅黑"/>
              </a:rPr>
              <a:t>Climate &amp; Env</a:t>
            </a:r>
            <a:endParaRPr lang="en-US" sz="1100"/>
          </a:p>
        </p:txBody>
      </p:sp>
      <p:pic>
        <p:nvPicPr>
          <p:cNvPr name="Picture 16" id="16"/>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77000" y="3937000"/>
            <a:ext cx="279400" cy="279400"/>
          </a:xfrm>
          <a:prstGeom prst="rect">
            <a:avLst/>
          </a:prstGeom>
        </p:spPr>
      </p:pic>
      <p:sp>
        <p:nvSpPr>
          <p:cNvPr name="AutoShape 17" id="17"/>
          <p:cNvSpPr/>
          <p:nvPr/>
        </p:nvSpPr>
        <p:spPr>
          <a:xfrm rot="0" flipH="false" flipV="false">
            <a:off x="6858000" y="3911600"/>
            <a:ext cx="45085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Weather Forecasting:</a:t>
            </a:r>
            <a:r>
              <a:rPr lang="en-US" b="false" i="false" strike="noStrike" u="none" sz="1300">
                <a:solidFill>
                  <a:srgbClr val="374151"/>
                </a:solidFill>
                <a:latin typeface="Noto Sans SC"/>
                <a:ea typeface="Noto Sans SC"/>
                <a:cs typeface="Noto Sans SC"/>
                <a:sym typeface="Noto Sans SC"/>
              </a:rPr>
              <a:t>DeepMind's GraphCast AI outperformed the world's best weather models on 90% of key predictive variables.</a:t>
            </a:r>
            <a:endParaRPr lang="en-US" sz="1100"/>
          </a:p>
        </p:txBody>
      </p:sp>
      <p:pic>
        <p:nvPicPr>
          <p:cNvPr name="Picture 18" id="18"/>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477000" y="4737100"/>
            <a:ext cx="279400" cy="279400"/>
          </a:xfrm>
          <a:prstGeom prst="rect">
            <a:avLst/>
          </a:prstGeom>
        </p:spPr>
      </p:pic>
      <p:sp>
        <p:nvSpPr>
          <p:cNvPr name="AutoShape 19" id="19"/>
          <p:cNvSpPr/>
          <p:nvPr/>
        </p:nvSpPr>
        <p:spPr>
          <a:xfrm rot="0" flipH="false" flipV="false">
            <a:off x="6858000" y="4711700"/>
            <a:ext cx="4508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Deforestation Monitoring:</a:t>
            </a:r>
            <a:r>
              <a:rPr lang="en-US" b="false" i="false" strike="noStrike" u="none" sz="1300">
                <a:solidFill>
                  <a:srgbClr val="374151"/>
                </a:solidFill>
                <a:latin typeface="Noto Sans SC"/>
                <a:ea typeface="Noto Sans SC"/>
                <a:cs typeface="Noto Sans SC"/>
                <a:sym typeface="Noto Sans SC"/>
              </a:rPr>
              <a:t>Analyzes satellite imagery to detect and track forest loss in near real-time, enabling rapid response.</a:t>
            </a:r>
            <a:endParaRPr lang="en-US" sz="1100"/>
          </a:p>
        </p:txBody>
      </p:sp>
      <p:pic>
        <p:nvPicPr>
          <p:cNvPr name="Picture 20" id="20"/>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477000" y="5499100"/>
            <a:ext cx="279400" cy="279400"/>
          </a:xfrm>
          <a:prstGeom prst="rect">
            <a:avLst/>
          </a:prstGeom>
        </p:spPr>
      </p:pic>
      <p:sp>
        <p:nvSpPr>
          <p:cNvPr name="AutoShape 21" id="21"/>
          <p:cNvSpPr/>
          <p:nvPr/>
        </p:nvSpPr>
        <p:spPr>
          <a:xfrm rot="0" flipH="false" flipV="false">
            <a:off x="6858000" y="5473700"/>
            <a:ext cx="4508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Energy Grid Optimization:</a:t>
            </a:r>
            <a:r>
              <a:rPr lang="en-US" b="false" i="false" strike="noStrike" u="none" sz="1300">
                <a:solidFill>
                  <a:srgbClr val="374151"/>
                </a:solidFill>
                <a:latin typeface="Noto Sans SC"/>
                <a:ea typeface="Noto Sans SC"/>
                <a:cs typeface="Noto Sans SC"/>
                <a:sym typeface="Noto Sans SC"/>
              </a:rPr>
              <a:t>Dynamically balances supply and demand, efficiently integrating variable renewable sources like wind and solar.</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AI in Entertainment &amp; Science</a:t>
            </a:r>
            <a:endParaRPr lang="en-US" sz="1100"/>
          </a:p>
        </p:txBody>
      </p:sp>
      <p:sp>
        <p:nvSpPr>
          <p:cNvPr name="AutoShape 4" id="4"/>
          <p:cNvSpPr/>
          <p:nvPr/>
        </p:nvSpPr>
        <p:spPr>
          <a:xfrm rot="0" flipH="false" flipV="false">
            <a:off x="762000" y="1651000"/>
            <a:ext cx="5207000" cy="4699000"/>
          </a:xfrm>
          <a:prstGeom prst="roundRect">
            <a:avLst>
              <a:gd name="adj" fmla="val 0"/>
            </a:avLst>
          </a:prstGeom>
          <a:solidFill>
            <a:srgbClr val="FFFFFF">
              <a:alpha val="65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905000"/>
            <a:ext cx="4699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2D3EE"/>
                </a:solidFill>
                <a:latin typeface="微软雅黑"/>
                <a:ea typeface="微软雅黑"/>
                <a:cs typeface="微软雅黑"/>
                <a:sym typeface="微软雅黑"/>
              </a:rPr>
              <a:t>01 Entertainment</a:t>
            </a:r>
            <a:endParaRPr lang="en-US" sz="1100"/>
          </a:p>
        </p:txBody>
      </p:sp>
      <p:pic>
        <p:nvPicPr>
          <p:cNvPr name="Picture 6" id="6"/>
          <p:cNvPicPr>
            <a:picLocks noChangeAspect="true"/>
          </p:cNvPicPr>
          <p:nvPr/>
        </p:nvPicPr>
        <p:blipFill>
          <a:blip r:embed="rId3"/>
          <a:srcRect l="8387" r="8387" t="0" b="0"/>
          <a:stretch>
            <a:fillRect/>
          </a:stretch>
        </p:blipFill>
        <p:spPr>
          <a:xfrm rot="0" flipH="false" flipV="false">
            <a:off x="1016000" y="2540000"/>
            <a:ext cx="2794000" cy="1574800"/>
          </a:xfrm>
          <a:prstGeom prst="rect">
            <a:avLst/>
          </a:prstGeom>
          <a:noFill/>
          <a:ln w="12700" cmpd="sng" cap="flat">
            <a:solidFill>
              <a:srgbClr val="22D3EE">
                <a:alpha val="20000"/>
              </a:srgbClr>
            </a:solidFill>
            <a:prstDash val="solid"/>
            <a:round/>
          </a:ln>
        </p:spPr>
      </p:pic>
      <p:sp>
        <p:nvSpPr>
          <p:cNvPr name="AutoShape 7" id="7"/>
          <p:cNvSpPr/>
          <p:nvPr/>
        </p:nvSpPr>
        <p:spPr>
          <a:xfrm rot="0" flipH="false" flipV="false">
            <a:off x="1016000" y="4254500"/>
            <a:ext cx="4699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Hyper-Personalized Recommendations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Netflix leverages AI to save an estimated $1 billion annually by curating content tailored to individual tastes, significantly boosting user retention and engagement.</a:t>
            </a:r>
            <a:endParaRPr lang="en-US" sz="1100"/>
          </a:p>
        </p:txBody>
      </p:sp>
      <p:sp>
        <p:nvSpPr>
          <p:cNvPr name="AutoShape 8" id="8"/>
          <p:cNvSpPr/>
          <p:nvPr/>
        </p:nvSpPr>
        <p:spPr>
          <a:xfrm rot="0" flipH="false" flipV="false">
            <a:off x="1016000" y="5270500"/>
            <a:ext cx="4699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Dynamic &amp; Adaptive Gameplay</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AI-driven NPCs learn and adapt to player behavior in real-time, creating unique, unpredictable challenges and a customized gaming experience.</a:t>
            </a:r>
            <a:endParaRPr lang="en-US" sz="1100"/>
          </a:p>
        </p:txBody>
      </p:sp>
      <p:sp>
        <p:nvSpPr>
          <p:cNvPr name="AutoShape 9" id="9"/>
          <p:cNvSpPr/>
          <p:nvPr/>
        </p:nvSpPr>
        <p:spPr>
          <a:xfrm rot="0" flipH="false" flipV="false">
            <a:off x="6223000" y="1651000"/>
            <a:ext cx="5207000" cy="4699000"/>
          </a:xfrm>
          <a:prstGeom prst="roundRect">
            <a:avLst>
              <a:gd name="adj" fmla="val 0"/>
            </a:avLst>
          </a:prstGeom>
          <a:solidFill>
            <a:srgbClr val="FFFFFF">
              <a:alpha val="65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1905000"/>
            <a:ext cx="4699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22D3EE"/>
                </a:solidFill>
                <a:latin typeface="微软雅黑"/>
                <a:ea typeface="微软雅黑"/>
                <a:cs typeface="微软雅黑"/>
                <a:sym typeface="微软雅黑"/>
              </a:rPr>
              <a:t>02 Scientific Discovery</a:t>
            </a:r>
            <a:endParaRPr lang="en-US" sz="1100"/>
          </a:p>
        </p:txBody>
      </p:sp>
      <p:pic>
        <p:nvPicPr>
          <p:cNvPr name="Picture 11" id="11"/>
          <p:cNvPicPr>
            <a:picLocks noChangeAspect="true"/>
          </p:cNvPicPr>
          <p:nvPr/>
        </p:nvPicPr>
        <p:blipFill>
          <a:blip r:embed="rId4"/>
          <a:srcRect l="0" r="0" t="5165" b="5165"/>
          <a:stretch>
            <a:fillRect/>
          </a:stretch>
        </p:blipFill>
        <p:spPr>
          <a:xfrm rot="0" flipH="false" flipV="false">
            <a:off x="6477000" y="2540000"/>
            <a:ext cx="2794000" cy="1574800"/>
          </a:xfrm>
          <a:prstGeom prst="rect">
            <a:avLst/>
          </a:prstGeom>
          <a:noFill/>
          <a:ln w="12700" cmpd="sng" cap="flat">
            <a:solidFill>
              <a:srgbClr val="22D3EE">
                <a:alpha val="20000"/>
              </a:srgbClr>
            </a:solidFill>
            <a:prstDash val="solid"/>
            <a:round/>
          </a:ln>
        </p:spPr>
      </p:pic>
      <p:sp>
        <p:nvSpPr>
          <p:cNvPr name="AutoShape 12" id="12"/>
          <p:cNvSpPr/>
          <p:nvPr/>
        </p:nvSpPr>
        <p:spPr>
          <a:xfrm rot="0" flipH="false" flipV="false">
            <a:off x="6477000" y="4254500"/>
            <a:ext cx="4699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AlphaFold 2: Solving Life's Mysteries</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DeepMind's AI cracked a 50-year-old biology problem by predicting 3D protein structures with atomic accuracy, revolutionizing drug development and disease research.</a:t>
            </a:r>
            <a:endParaRPr lang="en-US" sz="1100"/>
          </a:p>
        </p:txBody>
      </p:sp>
      <p:sp>
        <p:nvSpPr>
          <p:cNvPr name="AutoShape 13" id="13"/>
          <p:cNvSpPr/>
          <p:nvPr/>
        </p:nvSpPr>
        <p:spPr>
          <a:xfrm rot="0" flipH="false" flipV="false">
            <a:off x="6477000" y="5270500"/>
            <a:ext cx="4699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Unlocking the Cosmos &amp; Subatomic World</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AI sifts through petabytes of LHC data to find rare particle events and analyzes telescope imagery to detect new exoplanets, turning vast datasets into breakthroughs.</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Your Turn: AI in Your Domain</a:t>
            </a:r>
            <a:endParaRPr lang="en-US" sz="1100"/>
          </a:p>
        </p:txBody>
      </p:sp>
      <p:sp>
        <p:nvSpPr>
          <p:cNvPr name="AutoShape 4" id="4"/>
          <p:cNvSpPr/>
          <p:nvPr/>
        </p:nvSpPr>
        <p:spPr>
          <a:xfrm rot="0" flipH="false" flipV="false">
            <a:off x="762000" y="2032000"/>
            <a:ext cx="2603500" cy="2413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65200" y="2235200"/>
            <a:ext cx="406400" cy="406400"/>
          </a:xfrm>
          <a:prstGeom prst="rect">
            <a:avLst/>
          </a:prstGeom>
        </p:spPr>
      </p:pic>
      <p:sp>
        <p:nvSpPr>
          <p:cNvPr name="AutoShape 6" id="6"/>
          <p:cNvSpPr/>
          <p:nvPr/>
        </p:nvSpPr>
        <p:spPr>
          <a:xfrm rot="0" flipH="false" flipV="false">
            <a:off x="1397000" y="2235200"/>
            <a:ext cx="203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01. Choose a Domain</a:t>
            </a:r>
            <a:endParaRPr lang="en-US" sz="1100"/>
          </a:p>
        </p:txBody>
      </p:sp>
      <p:sp>
        <p:nvSpPr>
          <p:cNvPr name="AutoShape 7" id="7"/>
          <p:cNvSpPr/>
          <p:nvPr/>
        </p:nvSpPr>
        <p:spPr>
          <a:xfrm rot="0" flipH="false" flipV="false">
            <a:off x="965200" y="2794000"/>
            <a:ext cx="2222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微软雅黑"/>
                <a:ea typeface="微软雅黑"/>
                <a:cs typeface="微软雅黑"/>
                <a:sym typeface="微软雅黑"/>
              </a:rPr>
              <a:t>Pick a field that sparks your curiosity—sports, music, history, art, or gaming. Any personal interest is a great starting point.</a:t>
            </a:r>
            <a:endParaRPr lang="en-US" sz="1100"/>
          </a:p>
        </p:txBody>
      </p:sp>
      <p:sp>
        <p:nvSpPr>
          <p:cNvPr name="AutoShape 8" id="8"/>
          <p:cNvSpPr/>
          <p:nvPr/>
        </p:nvSpPr>
        <p:spPr>
          <a:xfrm rot="0" flipH="false" flipV="false">
            <a:off x="3492500" y="2032000"/>
            <a:ext cx="2603500" cy="2413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95700" y="2235200"/>
            <a:ext cx="406400" cy="406400"/>
          </a:xfrm>
          <a:prstGeom prst="rect">
            <a:avLst/>
          </a:prstGeom>
        </p:spPr>
      </p:pic>
      <p:sp>
        <p:nvSpPr>
          <p:cNvPr name="AutoShape 10" id="10"/>
          <p:cNvSpPr/>
          <p:nvPr/>
        </p:nvSpPr>
        <p:spPr>
          <a:xfrm rot="0" flipH="false" flipV="false">
            <a:off x="4127500" y="2235200"/>
            <a:ext cx="203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02. Quick Search</a:t>
            </a:r>
            <a:endParaRPr lang="en-US" sz="1100"/>
          </a:p>
        </p:txBody>
      </p:sp>
      <p:sp>
        <p:nvSpPr>
          <p:cNvPr name="AutoShape 11" id="11"/>
          <p:cNvSpPr/>
          <p:nvPr/>
        </p:nvSpPr>
        <p:spPr>
          <a:xfrm rot="0" flipH="false" flipV="false">
            <a:off x="3695700" y="2794000"/>
            <a:ext cx="2222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微软雅黑"/>
                <a:ea typeface="微软雅黑"/>
                <a:cs typeface="微软雅黑"/>
                <a:sym typeface="微软雅黑"/>
              </a:rPr>
              <a:t>Spend 5 minutes exploring online for "AI in [your domain]". Look for recent news, articles, or industry reports.</a:t>
            </a:r>
            <a:endParaRPr lang="en-US" sz="1100"/>
          </a:p>
        </p:txBody>
      </p:sp>
      <p:sp>
        <p:nvSpPr>
          <p:cNvPr name="AutoShape 12" id="12"/>
          <p:cNvSpPr/>
          <p:nvPr/>
        </p:nvSpPr>
        <p:spPr>
          <a:xfrm rot="0" flipH="false" flipV="false">
            <a:off x="6223000" y="2032000"/>
            <a:ext cx="2603500" cy="2413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426200" y="2235200"/>
            <a:ext cx="406400" cy="406400"/>
          </a:xfrm>
          <a:prstGeom prst="rect">
            <a:avLst/>
          </a:prstGeom>
        </p:spPr>
      </p:pic>
      <p:sp>
        <p:nvSpPr>
          <p:cNvPr name="AutoShape 14" id="14"/>
          <p:cNvSpPr/>
          <p:nvPr/>
        </p:nvSpPr>
        <p:spPr>
          <a:xfrm rot="0" flipH="false" flipV="false">
            <a:off x="6858000" y="2235200"/>
            <a:ext cx="203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03. Find an App</a:t>
            </a:r>
            <a:endParaRPr lang="en-US" sz="1100"/>
          </a:p>
        </p:txBody>
      </p:sp>
      <p:sp>
        <p:nvSpPr>
          <p:cNvPr name="AutoShape 15" id="15"/>
          <p:cNvSpPr/>
          <p:nvPr/>
        </p:nvSpPr>
        <p:spPr>
          <a:xfrm rot="0" flipH="false" flipV="false">
            <a:off x="6426200" y="2794000"/>
            <a:ext cx="2222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微软雅黑"/>
                <a:ea typeface="微软雅黑"/>
                <a:cs typeface="微软雅黑"/>
                <a:sym typeface="微软雅黑"/>
              </a:rPr>
              <a:t>Identify one real-world AI application in that field. Focus on a specific tool or system that is currently in use.</a:t>
            </a:r>
            <a:endParaRPr lang="en-US" sz="1100"/>
          </a:p>
        </p:txBody>
      </p:sp>
      <p:sp>
        <p:nvSpPr>
          <p:cNvPr name="AutoShape 16" id="16"/>
          <p:cNvSpPr/>
          <p:nvPr/>
        </p:nvSpPr>
        <p:spPr>
          <a:xfrm rot="0" flipH="false" flipV="false">
            <a:off x="8953500" y="2032000"/>
            <a:ext cx="2603500" cy="2413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156700" y="2235200"/>
            <a:ext cx="406400" cy="406400"/>
          </a:xfrm>
          <a:prstGeom prst="rect">
            <a:avLst/>
          </a:prstGeom>
        </p:spPr>
      </p:pic>
      <p:sp>
        <p:nvSpPr>
          <p:cNvPr name="AutoShape 18" id="18"/>
          <p:cNvSpPr/>
          <p:nvPr/>
        </p:nvSpPr>
        <p:spPr>
          <a:xfrm rot="0" flipH="false" flipV="false">
            <a:off x="9588500" y="2235200"/>
            <a:ext cx="203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04. Prepare to Share</a:t>
            </a:r>
            <a:endParaRPr lang="en-US" sz="1100"/>
          </a:p>
        </p:txBody>
      </p:sp>
      <p:sp>
        <p:nvSpPr>
          <p:cNvPr name="AutoShape 19" id="19"/>
          <p:cNvSpPr/>
          <p:nvPr/>
        </p:nvSpPr>
        <p:spPr>
          <a:xfrm rot="0" flipH="false" flipV="false">
            <a:off x="9156700" y="2794000"/>
            <a:ext cx="2222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微软雅黑"/>
                <a:ea typeface="微软雅黑"/>
                <a:cs typeface="微软雅黑"/>
                <a:sym typeface="微软雅黑"/>
              </a:rPr>
              <a:t>Analyze it: What data is the input? What is the generated output? And most importantly—why does this matter?</a:t>
            </a:r>
            <a:endParaRPr lang="en-US" sz="1100"/>
          </a:p>
        </p:txBody>
      </p:sp>
      <p:sp>
        <p:nvSpPr>
          <p:cNvPr name="AutoShape 20" id="20"/>
          <p:cNvSpPr/>
          <p:nvPr/>
        </p:nvSpPr>
        <p:spPr>
          <a:xfrm rot="0" flipH="false" flipV="false">
            <a:off x="762000" y="4826000"/>
            <a:ext cx="10795000" cy="1397000"/>
          </a:xfrm>
          <a:prstGeom prst="roundRect">
            <a:avLst>
              <a:gd name="adj" fmla="val 0"/>
            </a:avLst>
          </a:prstGeom>
          <a:solidFill>
            <a:srgbClr val="22D3EE">
              <a:alpha val="12000"/>
            </a:srgbClr>
          </a:solidFill>
          <a:ln w="12700" cmpd="sng" cap="flat">
            <a:solidFill>
              <a:srgbClr val="22D3EE">
                <a:alpha val="5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5219700"/>
            <a:ext cx="609600" cy="609600"/>
          </a:xfrm>
          <a:prstGeom prst="rect">
            <a:avLst/>
          </a:prstGeom>
        </p:spPr>
      </p:pic>
      <p:sp>
        <p:nvSpPr>
          <p:cNvPr name="AutoShape 22" id="22"/>
          <p:cNvSpPr/>
          <p:nvPr/>
        </p:nvSpPr>
        <p:spPr>
          <a:xfrm rot="0" flipH="false" flipV="false">
            <a:off x="1778000" y="5016500"/>
            <a:ext cx="9525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1F2937"/>
                </a:solidFill>
                <a:latin typeface="微软雅黑"/>
                <a:ea typeface="微软雅黑"/>
                <a:cs typeface="微软雅黑"/>
                <a:sym typeface="微软雅黑"/>
              </a:rPr>
              <a:t>The "AI Application Map" Seed</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16666"/>
              </a:lnSpc>
            </a:pPr>
            <a:r>
              <a:rPr lang="en-US" b="false" i="false" strike="noStrike" u="none" sz="1400">
                <a:solidFill>
                  <a:srgbClr val="374151"/>
                </a:solidFill>
                <a:latin typeface="微软雅黑"/>
                <a:ea typeface="微软雅黑"/>
                <a:cs typeface="微软雅黑"/>
                <a:sym typeface="微软雅黑"/>
              </a:rPr>
              <a:t>This exercise is more than just a task—it’s the beginning of your personal map of how AI intersects with the world around you. By grounding AI in your passions, you’ll gain a deeper, more intuitive understanding of its practical impact and potential.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Our Anchor Case Study: Teaching a Car to See</a:t>
            </a:r>
            <a:endParaRPr lang="en-US" sz="1100"/>
          </a:p>
        </p:txBody>
      </p:sp>
      <p:pic>
        <p:nvPicPr>
          <p:cNvPr name="Picture 4" id="4"/>
          <p:cNvPicPr>
            <a:picLocks noChangeAspect="true"/>
          </p:cNvPicPr>
          <p:nvPr/>
        </p:nvPicPr>
        <p:blipFill>
          <a:blip r:embed="rId3"/>
          <a:srcRect l="634" r="634" t="0" b="0"/>
          <a:stretch>
            <a:fillRect/>
          </a:stretch>
        </p:blipFill>
        <p:spPr>
          <a:xfrm rot="0" flipH="false" flipV="false">
            <a:off x="762000" y="1905000"/>
            <a:ext cx="5080000" cy="2667000"/>
          </a:xfrm>
          <a:prstGeom prst="roundRect">
            <a:avLst>
              <a:gd name="adj" fmla="val 5714"/>
            </a:avLst>
          </a:prstGeom>
          <a:noFill/>
          <a:ln w="25400" cmpd="sng" cap="flat">
            <a:noFill/>
            <a:prstDash val="solid"/>
            <a:round/>
          </a:ln>
          <a:effectLst>
            <a:outerShdw dir="2700000" dist="63500" blurRad="190500" algn="tl" rotWithShape="false">
              <a:srgbClr val="000000">
                <a:alpha val="15000"/>
              </a:srgbClr>
            </a:outerShdw>
          </a:effectLst>
        </p:spPr>
      </p:pic>
      <p:sp>
        <p:nvSpPr>
          <p:cNvPr name="AutoShape 5" id="5"/>
          <p:cNvSpPr/>
          <p:nvPr/>
        </p:nvSpPr>
        <p:spPr>
          <a:xfrm rot="0" flipH="false" flipV="false">
            <a:off x="6223000" y="1905000"/>
            <a:ext cx="5334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We ground every abstract AI concept in a tangible, high-stakes challenge:</a:t>
            </a:r>
            <a:r>
              <a:rPr lang="en-US" b="true" i="false" strike="noStrike" u="none" sz="1400">
                <a:solidFill>
                  <a:srgbClr val="22D3EE"/>
                </a:solidFill>
                <a:latin typeface="Noto Sans SC"/>
                <a:ea typeface="Noto Sans SC"/>
                <a:cs typeface="Noto Sans SC"/>
                <a:sym typeface="Noto Sans SC"/>
              </a:rPr>
              <a:t>Autonomous-Vehicle (AV) Perception</a:t>
            </a:r>
            <a:r>
              <a:rPr lang="en-US" b="false" i="false" strike="noStrike" u="none" sz="1400">
                <a:solidFill>
                  <a:srgbClr val="374151"/>
                </a:solidFill>
                <a:latin typeface="Noto Sans SC"/>
                <a:ea typeface="Noto Sans SC"/>
                <a:cs typeface="Noto Sans SC"/>
                <a:sym typeface="Noto Sans SC"/>
              </a:rPr>
              <a:t>. This case study isn’t just an example—it’s a practical lens to understand how machines interpret the visual world.</a:t>
            </a:r>
            <a:endParaRPr lang="en-US" sz="1100"/>
          </a:p>
        </p:txBody>
      </p:sp>
      <p:sp>
        <p:nvSpPr>
          <p:cNvPr name="AutoShape 6" id="6"/>
          <p:cNvSpPr/>
          <p:nvPr/>
        </p:nvSpPr>
        <p:spPr>
          <a:xfrm rot="0" flipH="false" flipV="false">
            <a:off x="6223000" y="3238500"/>
            <a:ext cx="5334000" cy="1206500"/>
          </a:xfrm>
          <a:prstGeom prst="roundRect">
            <a:avLst>
              <a:gd name="adj" fmla="val 0"/>
            </a:avLst>
          </a:prstGeom>
          <a:solidFill>
            <a:srgbClr val="22D3EE">
              <a:alpha val="10000"/>
            </a:srgbClr>
          </a:solidFill>
          <a:ln w="12700" cmpd="sng" cap="flat">
            <a:solidFill>
              <a:srgbClr val="22D3EE">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350000" y="3365500"/>
            <a:ext cx="5080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The Core Question: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B5563"/>
                </a:solidFill>
                <a:latin typeface="Noto Sans SC"/>
                <a:ea typeface="Noto Sans SC"/>
                <a:cs typeface="Noto Sans SC"/>
                <a:sym typeface="Noto Sans SC"/>
              </a:rPr>
              <a:t>How do we program a car to "see" pedestrians, other vehicles, and traffic signs from raw camera pixels—and make split-second decisions to avoid collisions?</a:t>
            </a:r>
            <a:endParaRPr lang="en-US" sz="1100"/>
          </a:p>
        </p:txBody>
      </p:sp>
      <p:sp>
        <p:nvSpPr>
          <p:cNvPr name="AutoShape 8" id="8"/>
          <p:cNvSpPr/>
          <p:nvPr/>
        </p:nvSpPr>
        <p:spPr>
          <a:xfrm rot="0" flipH="false" flipV="false">
            <a:off x="762000" y="4953000"/>
            <a:ext cx="3429000" cy="1397000"/>
          </a:xfrm>
          <a:prstGeom prst="roundRect">
            <a:avLst>
              <a:gd name="adj" fmla="val 0"/>
            </a:avLst>
          </a:prstGeom>
          <a:solidFill>
            <a:srgbClr val="FFFFFF">
              <a:alpha val="6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5143500"/>
            <a:ext cx="304800" cy="304800"/>
          </a:xfrm>
          <a:prstGeom prst="rect">
            <a:avLst/>
          </a:prstGeom>
        </p:spPr>
      </p:pic>
      <p:sp>
        <p:nvSpPr>
          <p:cNvPr name="AutoShape 10" id="10"/>
          <p:cNvSpPr/>
          <p:nvPr/>
        </p:nvSpPr>
        <p:spPr>
          <a:xfrm rot="0" flipH="false" flipV="false">
            <a:off x="1371600" y="5118100"/>
            <a:ext cx="2667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Fully Observable</a:t>
            </a:r>
            <a:endParaRPr lang="en-US" sz="1100"/>
          </a:p>
        </p:txBody>
      </p:sp>
      <p:sp>
        <p:nvSpPr>
          <p:cNvPr name="AutoShape 11" id="11"/>
          <p:cNvSpPr/>
          <p:nvPr/>
        </p:nvSpPr>
        <p:spPr>
          <a:xfrm rot="0" flipH="false" flipV="false">
            <a:off x="952500" y="55880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Inputs (camera feeds) and outputs (detection boxes) are directly visual, making it easy to debug and understand the AI’s behavior.</a:t>
            </a:r>
            <a:endParaRPr lang="en-US" sz="1100"/>
          </a:p>
        </p:txBody>
      </p:sp>
      <p:sp>
        <p:nvSpPr>
          <p:cNvPr name="AutoShape 12" id="12"/>
          <p:cNvSpPr/>
          <p:nvPr/>
        </p:nvSpPr>
        <p:spPr>
          <a:xfrm rot="0" flipH="false" flipV="false">
            <a:off x="4381500" y="4953000"/>
            <a:ext cx="3429000" cy="1397000"/>
          </a:xfrm>
          <a:prstGeom prst="roundRect">
            <a:avLst>
              <a:gd name="adj" fmla="val 0"/>
            </a:avLst>
          </a:prstGeom>
          <a:solidFill>
            <a:srgbClr val="FFFFFF">
              <a:alpha val="6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572000" y="5143500"/>
            <a:ext cx="304800" cy="304800"/>
          </a:xfrm>
          <a:prstGeom prst="rect">
            <a:avLst/>
          </a:prstGeom>
        </p:spPr>
      </p:pic>
      <p:sp>
        <p:nvSpPr>
          <p:cNvPr name="AutoShape 14" id="14"/>
          <p:cNvSpPr/>
          <p:nvPr/>
        </p:nvSpPr>
        <p:spPr>
          <a:xfrm rot="0" flipH="false" flipV="false">
            <a:off x="4991100" y="5118100"/>
            <a:ext cx="2667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Intuitively Relatable</a:t>
            </a:r>
            <a:endParaRPr lang="en-US" sz="1100"/>
          </a:p>
        </p:txBody>
      </p:sp>
      <p:sp>
        <p:nvSpPr>
          <p:cNvPr name="AutoShape 15" id="15"/>
          <p:cNvSpPr/>
          <p:nvPr/>
        </p:nvSpPr>
        <p:spPr>
          <a:xfrm rot="0" flipH="false" flipV="false">
            <a:off x="4572000" y="55880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Everyone understands the goal of safe driving, so the technical problems (like object detection) feel meaningful and urgent.</a:t>
            </a:r>
            <a:endParaRPr lang="en-US" sz="1100"/>
          </a:p>
        </p:txBody>
      </p:sp>
      <p:sp>
        <p:nvSpPr>
          <p:cNvPr name="AutoShape 16" id="16"/>
          <p:cNvSpPr/>
          <p:nvPr/>
        </p:nvSpPr>
        <p:spPr>
          <a:xfrm rot="0" flipH="false" flipV="false">
            <a:off x="8001000" y="4953000"/>
            <a:ext cx="3429000" cy="1397000"/>
          </a:xfrm>
          <a:prstGeom prst="roundRect">
            <a:avLst>
              <a:gd name="adj" fmla="val 0"/>
            </a:avLst>
          </a:prstGeom>
          <a:solidFill>
            <a:srgbClr val="FFFFFF">
              <a:alpha val="60000"/>
            </a:srgbClr>
          </a:solidFill>
          <a:ln w="12700" cmpd="sng" cap="flat">
            <a:solidFill>
              <a:srgbClr val="D1D5DB">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191500" y="5143500"/>
            <a:ext cx="304800" cy="304800"/>
          </a:xfrm>
          <a:prstGeom prst="rect">
            <a:avLst/>
          </a:prstGeom>
        </p:spPr>
      </p:pic>
      <p:sp>
        <p:nvSpPr>
          <p:cNvPr name="AutoShape 18" id="18"/>
          <p:cNvSpPr/>
          <p:nvPr/>
        </p:nvSpPr>
        <p:spPr>
          <a:xfrm rot="0" flipH="false" flipV="false">
            <a:off x="8610600" y="5118100"/>
            <a:ext cx="2667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Covers the Full Pipeline</a:t>
            </a:r>
            <a:endParaRPr lang="en-US" sz="1100"/>
          </a:p>
        </p:txBody>
      </p:sp>
      <p:sp>
        <p:nvSpPr>
          <p:cNvPr name="AutoShape 19" id="19"/>
          <p:cNvSpPr/>
          <p:nvPr/>
        </p:nvSpPr>
        <p:spPr>
          <a:xfrm rot="0" flipH="false" flipV="false">
            <a:off x="8191500" y="5588000"/>
            <a:ext cx="304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4B5563"/>
                </a:solidFill>
                <a:latin typeface="Noto Sans SC"/>
                <a:ea typeface="Noto Sans SC"/>
                <a:cs typeface="Noto Sans SC"/>
                <a:sym typeface="Noto Sans SC"/>
              </a:rPr>
              <a:t>From data collection and model training to real-time inference and edge deployment, it exercises every step of AI research.</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The Three Jobs of a Self-Driving Car</a:t>
            </a:r>
            <a:endParaRPr lang="en-US" sz="1100"/>
          </a:p>
        </p:txBody>
      </p:sp>
      <p:sp>
        <p:nvSpPr>
          <p:cNvPr name="AutoShape 4" id="4"/>
          <p:cNvSpPr/>
          <p:nvPr/>
        </p:nvSpPr>
        <p:spPr>
          <a:xfrm rot="0" flipH="false" flipV="false">
            <a:off x="762000" y="1651000"/>
            <a:ext cx="3556000" cy="2286000"/>
          </a:xfrm>
          <a:prstGeom prst="roundRect">
            <a:avLst>
              <a:gd name="adj" fmla="val 0"/>
            </a:avLst>
          </a:prstGeom>
          <a:solidFill>
            <a:srgbClr val="22D3EE">
              <a:alpha val="1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06400" cy="406400"/>
          </a:xfrm>
          <a:prstGeom prst="rect">
            <a:avLst/>
          </a:prstGeom>
        </p:spPr>
      </p:pic>
      <p:sp>
        <p:nvSpPr>
          <p:cNvPr name="AutoShape 6" id="6"/>
          <p:cNvSpPr/>
          <p:nvPr/>
        </p:nvSpPr>
        <p:spPr>
          <a:xfrm rot="0" flipH="false" flipV="false">
            <a:off x="1524000" y="1930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01. Perception (Seeing)</a:t>
            </a:r>
            <a:endParaRPr lang="en-US" sz="1100"/>
          </a:p>
        </p:txBody>
      </p:sp>
      <p:sp>
        <p:nvSpPr>
          <p:cNvPr name="AutoShape 7" id="7"/>
          <p:cNvSpPr/>
          <p:nvPr/>
        </p:nvSpPr>
        <p:spPr>
          <a:xfrm rot="0" flipH="false" flipV="false">
            <a:off x="1016000" y="24765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微软雅黑"/>
                <a:ea typeface="微软雅黑"/>
                <a:cs typeface="微软雅黑"/>
                <a:sym typeface="微软雅黑"/>
              </a:rPr>
              <a:t>Input: Raw sensor data (cameras, lidar, radar).</a:t>
            </a:r>
            <a:r>
              <a:rPr lang="en-US" b="false" i="false" strike="noStrike" u="none" sz="1400">
                <a:solidFill>
                  <a:srgbClr val="4B5563"/>
                </a:solidFill>
                <a:latin typeface="微软雅黑"/>
                <a:ea typeface="微软雅黑"/>
                <a:cs typeface="微软雅黑"/>
                <a:sym typeface="微软雅黑"/>
              </a:rPr>
              <a:t/>
            </a:r>
            <a:br>
              <a:rPr lang="en-US" b="false" i="false" strike="noStrike" u="none" sz="1400">
                <a:solidFill>
                  <a:srgbClr val="4B5563"/>
                </a:solidFill>
                <a:latin typeface="微软雅黑"/>
                <a:ea typeface="微软雅黑"/>
                <a:cs typeface="微软雅黑"/>
                <a:sym typeface="微软雅黑"/>
              </a:rPr>
            </a:br>
            <a:r>
              <a:rPr lang="en-US" b="false" i="false" strike="noStrike" u="none" sz="1400">
                <a:solidFill>
                  <a:srgbClr val="4B5563"/>
                </a:solidFill>
                <a:latin typeface="微软雅黑"/>
                <a:ea typeface="微软雅黑"/>
                <a:cs typeface="微软雅黑"/>
                <a:sym typeface="微软雅黑"/>
              </a:rPr>
              <a:t>Output: Identifies objects (pedestrians, cars, signs) and maps their 3D positions.</a:t>
            </a:r>
            <a:endParaRPr lang="en-US" sz="1100"/>
          </a:p>
        </p:txBody>
      </p:sp>
      <p:sp>
        <p:nvSpPr>
          <p:cNvPr name="AutoShape 8" id="8"/>
          <p:cNvSpPr/>
          <p:nvPr/>
        </p:nvSpPr>
        <p:spPr>
          <a:xfrm rot="0" flipH="false" flipV="false">
            <a:off x="4318000" y="1651000"/>
            <a:ext cx="3556000" cy="2286000"/>
          </a:xfrm>
          <a:prstGeom prst="roundRect">
            <a:avLst>
              <a:gd name="adj" fmla="val 0"/>
            </a:avLst>
          </a:prstGeom>
          <a:solidFill>
            <a:srgbClr val="22D3EE">
              <a:alpha val="1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1905000"/>
            <a:ext cx="406400" cy="406400"/>
          </a:xfrm>
          <a:prstGeom prst="rect">
            <a:avLst/>
          </a:prstGeom>
        </p:spPr>
      </p:pic>
      <p:sp>
        <p:nvSpPr>
          <p:cNvPr name="AutoShape 10" id="10"/>
          <p:cNvSpPr/>
          <p:nvPr/>
        </p:nvSpPr>
        <p:spPr>
          <a:xfrm rot="0" flipH="false" flipV="false">
            <a:off x="5080000" y="1930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02. Prediction (Forecasting)</a:t>
            </a:r>
            <a:endParaRPr lang="en-US" sz="1100"/>
          </a:p>
        </p:txBody>
      </p:sp>
      <p:sp>
        <p:nvSpPr>
          <p:cNvPr name="AutoShape 11" id="11"/>
          <p:cNvSpPr/>
          <p:nvPr/>
        </p:nvSpPr>
        <p:spPr>
          <a:xfrm rot="0" flipH="false" flipV="false">
            <a:off x="4572000" y="24765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微软雅黑"/>
                <a:ea typeface="微软雅黑"/>
                <a:cs typeface="微软雅黑"/>
                <a:sym typeface="微软雅黑"/>
              </a:rPr>
              <a:t>Input: Analyzed objects and their current states.</a:t>
            </a:r>
            <a:r>
              <a:rPr lang="en-US" b="false" i="false" strike="noStrike" u="none" sz="1400">
                <a:solidFill>
                  <a:srgbClr val="4B5563"/>
                </a:solidFill>
                <a:latin typeface="微软雅黑"/>
                <a:ea typeface="微软雅黑"/>
                <a:cs typeface="微软雅黑"/>
                <a:sym typeface="微软雅黑"/>
              </a:rPr>
              <a:t/>
            </a:r>
            <a:br>
              <a:rPr lang="en-US" b="false" i="false" strike="noStrike" u="none" sz="1400">
                <a:solidFill>
                  <a:srgbClr val="4B5563"/>
                </a:solidFill>
                <a:latin typeface="微软雅黑"/>
                <a:ea typeface="微软雅黑"/>
                <a:cs typeface="微软雅黑"/>
                <a:sym typeface="微软雅黑"/>
              </a:rPr>
            </a:br>
            <a:r>
              <a:rPr lang="en-US" b="false" i="false" strike="noStrike" u="none" sz="1400">
                <a:solidFill>
                  <a:srgbClr val="4B5563"/>
                </a:solidFill>
                <a:latin typeface="微软雅黑"/>
                <a:ea typeface="微软雅黑"/>
                <a:cs typeface="微软雅黑"/>
                <a:sym typeface="微软雅黑"/>
              </a:rPr>
              <a:t>Output: Predicts future motion—e.g., "Will the cyclist turn?" or "Is the car braking?".</a:t>
            </a:r>
            <a:endParaRPr lang="en-US" sz="1100"/>
          </a:p>
        </p:txBody>
      </p:sp>
      <p:sp>
        <p:nvSpPr>
          <p:cNvPr name="AutoShape 12" id="12"/>
          <p:cNvSpPr/>
          <p:nvPr/>
        </p:nvSpPr>
        <p:spPr>
          <a:xfrm rot="0" flipH="false" flipV="false">
            <a:off x="7874000" y="1651000"/>
            <a:ext cx="3556000" cy="2286000"/>
          </a:xfrm>
          <a:prstGeom prst="roundRect">
            <a:avLst>
              <a:gd name="adj" fmla="val 0"/>
            </a:avLst>
          </a:prstGeom>
          <a:solidFill>
            <a:srgbClr val="22D3EE">
              <a:alpha val="1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28000" y="1905000"/>
            <a:ext cx="406400" cy="406400"/>
          </a:xfrm>
          <a:prstGeom prst="rect">
            <a:avLst/>
          </a:prstGeom>
        </p:spPr>
      </p:pic>
      <p:sp>
        <p:nvSpPr>
          <p:cNvPr name="AutoShape 14" id="14"/>
          <p:cNvSpPr/>
          <p:nvPr/>
        </p:nvSpPr>
        <p:spPr>
          <a:xfrm rot="0" flipH="false" flipV="false">
            <a:off x="8636000" y="19304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03. Planning (Deciding)</a:t>
            </a:r>
            <a:endParaRPr lang="en-US" sz="1100"/>
          </a:p>
        </p:txBody>
      </p:sp>
      <p:sp>
        <p:nvSpPr>
          <p:cNvPr name="AutoShape 15" id="15"/>
          <p:cNvSpPr/>
          <p:nvPr/>
        </p:nvSpPr>
        <p:spPr>
          <a:xfrm rot="0" flipH="false" flipV="false">
            <a:off x="8128000" y="2476500"/>
            <a:ext cx="304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微软雅黑"/>
                <a:ea typeface="微软雅黑"/>
                <a:cs typeface="微软雅黑"/>
                <a:sym typeface="微软雅黑"/>
              </a:rPr>
              <a:t>Input: Combined perceptions and predictions.</a:t>
            </a:r>
            <a:r>
              <a:rPr lang="en-US" b="false" i="false" strike="noStrike" u="none" sz="1400">
                <a:solidFill>
                  <a:srgbClr val="4B5563"/>
                </a:solidFill>
                <a:latin typeface="微软雅黑"/>
                <a:ea typeface="微软雅黑"/>
                <a:cs typeface="微软雅黑"/>
                <a:sym typeface="微软雅黑"/>
              </a:rPr>
              <a:t/>
            </a:r>
            <a:br>
              <a:rPr lang="en-US" b="false" i="false" strike="noStrike" u="none" sz="1400">
                <a:solidFill>
                  <a:srgbClr val="4B5563"/>
                </a:solidFill>
                <a:latin typeface="微软雅黑"/>
                <a:ea typeface="微软雅黑"/>
                <a:cs typeface="微软雅黑"/>
                <a:sym typeface="微软雅黑"/>
              </a:rPr>
            </a:br>
            <a:r>
              <a:rPr lang="en-US" b="false" i="false" strike="noStrike" u="none" sz="1400">
                <a:solidFill>
                  <a:srgbClr val="4B5563"/>
                </a:solidFill>
                <a:latin typeface="微软雅黑"/>
                <a:ea typeface="微软雅黑"/>
                <a:cs typeface="微软雅黑"/>
                <a:sym typeface="微软雅黑"/>
              </a:rPr>
              <a:t>Output: A safe, smooth trajectory—dictating steering, acceleration, and braking.</a:t>
            </a:r>
            <a:endParaRPr lang="en-US" sz="1100"/>
          </a:p>
        </p:txBody>
      </p:sp>
      <p:pic>
        <p:nvPicPr>
          <p:cNvPr name="Picture 16" id="16"/>
          <p:cNvPicPr>
            <a:picLocks noChangeAspect="true"/>
          </p:cNvPicPr>
          <p:nvPr/>
        </p:nvPicPr>
        <p:blipFill>
          <a:blip r:embed="rId9"/>
          <a:srcRect l="29419" r="29419" t="0" b="0"/>
          <a:stretch>
            <a:fillRect/>
          </a:stretch>
        </p:blipFill>
        <p:spPr>
          <a:xfrm rot="0" flipH="false" flipV="false">
            <a:off x="762000" y="4318000"/>
            <a:ext cx="6096000" cy="1651000"/>
          </a:xfrm>
          <a:prstGeom prst="rect">
            <a:avLst/>
          </a:prstGeom>
          <a:noFill/>
          <a:ln w="12700" cmpd="sng" cap="flat">
            <a:solidFill>
              <a:srgbClr val="D1D5DB">
                <a:alpha val="100000"/>
              </a:srgbClr>
            </a:solidFill>
            <a:prstDash val="solid"/>
            <a:round/>
          </a:ln>
        </p:spPr>
      </p:pic>
      <p:sp>
        <p:nvSpPr>
          <p:cNvPr name="AutoShape 17" id="17"/>
          <p:cNvSpPr/>
          <p:nvPr/>
        </p:nvSpPr>
        <p:spPr>
          <a:xfrm rot="0" flipH="false" flipV="false">
            <a:off x="7112000" y="4318000"/>
            <a:ext cx="4318000" cy="1651000"/>
          </a:xfrm>
          <a:prstGeom prst="roundRect">
            <a:avLst>
              <a:gd name="adj" fmla="val 0"/>
            </a:avLst>
          </a:prstGeom>
          <a:solidFill>
            <a:srgbClr val="F3F4F6">
              <a:alpha val="7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302500" y="4508500"/>
            <a:ext cx="3937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22D3EE"/>
                </a:solidFill>
                <a:latin typeface="微软雅黑"/>
                <a:ea typeface="微软雅黑"/>
                <a:cs typeface="微软雅黑"/>
                <a:sym typeface="微软雅黑"/>
              </a:rPr>
              <a:t>Real-Time, Parallel Processing</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16666"/>
              </a:lnSpc>
            </a:pPr>
            <a:r>
              <a:rPr lang="en-US" b="false" i="false" strike="noStrike" u="none" sz="1400">
                <a:solidFill>
                  <a:srgbClr val="374151"/>
                </a:solidFill>
                <a:latin typeface="微软雅黑"/>
                <a:ea typeface="微软雅黑"/>
                <a:cs typeface="微软雅黑"/>
                <a:sym typeface="微软雅黑"/>
              </a:rPr>
              <a:t>These systems run in a continuous loop, processing gigabytes of data per second to convert raw sensor input into precise, human-like driving decisions—forming the "brain" of the autonomous vehicle.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Focus on Perception: The "Eyes" of the System</a:t>
            </a:r>
            <a:endParaRPr lang="en-US" sz="1100"/>
          </a:p>
        </p:txBody>
      </p:sp>
      <p:pic>
        <p:nvPicPr>
          <p:cNvPr name="Picture 4" id="4"/>
          <p:cNvPicPr>
            <a:picLocks noChangeAspect="true"/>
          </p:cNvPicPr>
          <p:nvPr/>
        </p:nvPicPr>
        <p:blipFill>
          <a:blip r:embed="rId3"/>
          <a:srcRect l="0" r="0" t="24" b="24"/>
          <a:stretch>
            <a:fillRect/>
          </a:stretch>
        </p:blipFill>
        <p:spPr>
          <a:xfrm rot="0" flipH="false" flipV="false">
            <a:off x="762000" y="1905000"/>
            <a:ext cx="4572000" cy="3048000"/>
          </a:xfrm>
          <a:prstGeom prst="roundRect">
            <a:avLst>
              <a:gd name="adj" fmla="val 5000"/>
            </a:avLst>
          </a:prstGeom>
          <a:noFill/>
          <a:ln w="25400" cmpd="sng" cap="flat">
            <a:solidFill>
              <a:srgbClr val="22D3EE">
                <a:alpha val="50000"/>
              </a:srgbClr>
            </a:solidFill>
            <a:prstDash val="solid"/>
            <a:round/>
          </a:ln>
          <a:effectLst>
            <a:outerShdw dir="2700000" dist="50800" blurRad="152400" algn="tl" rotWithShape="false">
              <a:srgbClr val="000000">
                <a:alpha val="10000"/>
              </a:srgbClr>
            </a:outerShdw>
          </a:effectLst>
        </p:spPr>
      </p:pic>
      <p:sp>
        <p:nvSpPr>
          <p:cNvPr name="AutoShape 5" id="5"/>
          <p:cNvSpPr/>
          <p:nvPr/>
        </p:nvSpPr>
        <p:spPr>
          <a:xfrm rot="0" flipH="false" flipV="false">
            <a:off x="762000" y="52070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From processing raw sensor data to building intelligent detection models, we’ll explore the critical step of teaching a vehicle to perceive and interpret its dynamic surroundings.</a:t>
            </a:r>
            <a:endParaRPr lang="en-US" sz="1100"/>
          </a:p>
        </p:txBody>
      </p:sp>
      <p:sp>
        <p:nvSpPr>
          <p:cNvPr name="AutoShape 6" id="6"/>
          <p:cNvSpPr/>
          <p:nvPr/>
        </p:nvSpPr>
        <p:spPr>
          <a:xfrm rot="0" flipH="false" flipV="false">
            <a:off x="5842000" y="1905000"/>
            <a:ext cx="5842000" cy="1168400"/>
          </a:xfrm>
          <a:prstGeom prst="roundRect">
            <a:avLst>
              <a:gd name="adj" fmla="val 0"/>
            </a:avLst>
          </a:prstGeom>
          <a:solidFill>
            <a:srgbClr val="FFFFFF">
              <a:alpha val="5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096000" y="2133600"/>
            <a:ext cx="406400" cy="406400"/>
          </a:xfrm>
          <a:prstGeom prst="rect">
            <a:avLst/>
          </a:prstGeom>
        </p:spPr>
      </p:pic>
      <p:sp>
        <p:nvSpPr>
          <p:cNvPr name="AutoShape 8" id="8"/>
          <p:cNvSpPr/>
          <p:nvPr/>
        </p:nvSpPr>
        <p:spPr>
          <a:xfrm rot="0" flipH="false" flipV="false">
            <a:off x="6667500" y="2032000"/>
            <a:ext cx="4953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The "Eyes" of the Vehicle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374151"/>
                </a:solidFill>
                <a:latin typeface="Noto Sans SC"/>
                <a:ea typeface="Noto Sans SC"/>
                <a:cs typeface="Noto Sans SC"/>
                <a:sym typeface="Noto Sans SC"/>
              </a:rPr>
              <a:t>Perception is the system’s visual cortex. Without it, the car is blind to pedestrians, traffic signs, and obstacles—rendering all control systems useless.</a:t>
            </a:r>
          </a:p>
        </p:txBody>
      </p:sp>
      <p:sp>
        <p:nvSpPr>
          <p:cNvPr name="AutoShape 9" id="9"/>
          <p:cNvSpPr/>
          <p:nvPr/>
        </p:nvSpPr>
        <p:spPr>
          <a:xfrm rot="0" flipH="false" flipV="false">
            <a:off x="5842000" y="3276600"/>
            <a:ext cx="5842000" cy="1168400"/>
          </a:xfrm>
          <a:prstGeom prst="roundRect">
            <a:avLst>
              <a:gd name="adj" fmla="val 0"/>
            </a:avLst>
          </a:prstGeom>
          <a:solidFill>
            <a:srgbClr val="FFFFFF">
              <a:alpha val="5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096000" y="3505200"/>
            <a:ext cx="406400" cy="406400"/>
          </a:xfrm>
          <a:prstGeom prst="rect">
            <a:avLst/>
          </a:prstGeom>
        </p:spPr>
      </p:pic>
      <p:sp>
        <p:nvSpPr>
          <p:cNvPr name="AutoShape 11" id="11"/>
          <p:cNvSpPr/>
          <p:nvPr/>
        </p:nvSpPr>
        <p:spPr>
          <a:xfrm rot="0" flipH="false" flipV="false">
            <a:off x="6667500" y="3403600"/>
            <a:ext cx="4953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Visually Tangible &amp; Accessible</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374151"/>
                </a:solidFill>
                <a:latin typeface="Noto Sans SC"/>
                <a:ea typeface="Noto Sans SC"/>
                <a:cs typeface="Noto Sans SC"/>
                <a:sym typeface="Noto Sans SC"/>
              </a:rPr>
              <a:t>Unlike abstract algorithms, perception results are directly observable (e.g., bounding boxes on a screen), making it an ideal gateway to learn AI.</a:t>
            </a:r>
          </a:p>
        </p:txBody>
      </p:sp>
      <p:sp>
        <p:nvSpPr>
          <p:cNvPr name="AutoShape 12" id="12"/>
          <p:cNvSpPr/>
          <p:nvPr/>
        </p:nvSpPr>
        <p:spPr>
          <a:xfrm rot="0" flipH="false" flipV="false">
            <a:off x="5842000" y="4648200"/>
            <a:ext cx="5842000" cy="1168400"/>
          </a:xfrm>
          <a:prstGeom prst="roundRect">
            <a:avLst>
              <a:gd name="adj" fmla="val 0"/>
            </a:avLst>
          </a:prstGeom>
          <a:solidFill>
            <a:srgbClr val="FFFFFF">
              <a:alpha val="5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096000" y="4876800"/>
            <a:ext cx="406400" cy="406400"/>
          </a:xfrm>
          <a:prstGeom prst="rect">
            <a:avLst/>
          </a:prstGeom>
        </p:spPr>
      </p:pic>
      <p:sp>
        <p:nvSpPr>
          <p:cNvPr name="AutoShape 14" id="14"/>
          <p:cNvSpPr/>
          <p:nvPr/>
        </p:nvSpPr>
        <p:spPr>
          <a:xfrm rot="0" flipH="false" flipV="false">
            <a:off x="6667500" y="4775200"/>
            <a:ext cx="49530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The Core of Autonomous Driving</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374151"/>
                </a:solidFill>
                <a:latin typeface="Noto Sans SC"/>
                <a:ea typeface="Noto Sans SC"/>
                <a:cs typeface="Noto Sans SC"/>
                <a:sym typeface="Noto Sans SC"/>
              </a:rPr>
              <a:t>Every technical concept—from neural networks to sensor fusion—revolves around perception, linking theory to real-world safety and navigation.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What Makes Teaching a Car to See Difficult?</a:t>
            </a:r>
            <a:endParaRPr lang="en-US" sz="1100"/>
          </a:p>
        </p:txBody>
      </p:sp>
      <p:pic>
        <p:nvPicPr>
          <p:cNvPr name="Picture 4" id="4"/>
          <p:cNvPicPr>
            <a:picLocks noChangeAspect="true"/>
          </p:cNvPicPr>
          <p:nvPr/>
        </p:nvPicPr>
        <p:blipFill>
          <a:blip r:embed="rId3"/>
          <a:srcRect l="0" r="0" t="154" b="154"/>
          <a:stretch>
            <a:fillRect/>
          </a:stretch>
        </p:blipFill>
        <p:spPr>
          <a:xfrm rot="0" flipH="false" flipV="false">
            <a:off x="762000" y="1778000"/>
            <a:ext cx="4572000" cy="2565400"/>
          </a:xfrm>
          <a:prstGeom prst="rect">
            <a:avLst/>
          </a:prstGeom>
          <a:noFill/>
          <a:ln w="25400" cmpd="sng" cap="flat">
            <a:solidFill>
              <a:srgbClr val="22D3EE">
                <a:alpha val="60000"/>
              </a:srgbClr>
            </a:solidFill>
            <a:prstDash val="solid"/>
            <a:round/>
          </a:ln>
          <a:effectLst>
            <a:outerShdw dir="2700000" dist="76200" blurRad="152400" algn="tl" rotWithShape="false">
              <a:srgbClr val="000000">
                <a:alpha val="15000"/>
              </a:srgbClr>
            </a:outerShdw>
          </a:effectLst>
        </p:spPr>
      </p:pic>
      <p:sp>
        <p:nvSpPr>
          <p:cNvPr name="AutoShape 5" id="5"/>
          <p:cNvSpPr/>
          <p:nvPr/>
        </p:nvSpPr>
        <p:spPr>
          <a:xfrm rot="0" flipH="false" flipV="false">
            <a:off x="5842000" y="1778000"/>
            <a:ext cx="2984500" cy="1460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032500" y="1968500"/>
            <a:ext cx="304800" cy="304800"/>
          </a:xfrm>
          <a:prstGeom prst="rect">
            <a:avLst/>
          </a:prstGeom>
        </p:spPr>
      </p:pic>
      <p:sp>
        <p:nvSpPr>
          <p:cNvPr name="AutoShape 7" id="7"/>
          <p:cNvSpPr/>
          <p:nvPr/>
        </p:nvSpPr>
        <p:spPr>
          <a:xfrm rot="0" flipH="false" flipV="false">
            <a:off x="6413500" y="1968500"/>
            <a:ext cx="2349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Dynamic Environments</a:t>
            </a:r>
            <a:endParaRPr lang="en-US" sz="1100"/>
          </a:p>
        </p:txBody>
      </p:sp>
      <p:sp>
        <p:nvSpPr>
          <p:cNvPr name="AutoShape 8" id="8"/>
          <p:cNvSpPr/>
          <p:nvPr/>
        </p:nvSpPr>
        <p:spPr>
          <a:xfrm rot="0" flipH="false" flipV="false">
            <a:off x="6032500" y="2349500"/>
            <a:ext cx="2603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Pedestrians, cyclists, and vehicles move in erratic, unpredictable ways, defying rigid algorithms.</a:t>
            </a:r>
            <a:endParaRPr lang="en-US" sz="1100"/>
          </a:p>
        </p:txBody>
      </p:sp>
      <p:sp>
        <p:nvSpPr>
          <p:cNvPr name="AutoShape 9" id="9"/>
          <p:cNvSpPr/>
          <p:nvPr/>
        </p:nvSpPr>
        <p:spPr>
          <a:xfrm rot="0" flipH="false" flipV="false">
            <a:off x="8953500" y="1778000"/>
            <a:ext cx="2984500" cy="1460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144000" y="1968500"/>
            <a:ext cx="304800" cy="304800"/>
          </a:xfrm>
          <a:prstGeom prst="rect">
            <a:avLst/>
          </a:prstGeom>
        </p:spPr>
      </p:pic>
      <p:sp>
        <p:nvSpPr>
          <p:cNvPr name="AutoShape 11" id="11"/>
          <p:cNvSpPr/>
          <p:nvPr/>
        </p:nvSpPr>
        <p:spPr>
          <a:xfrm rot="0" flipH="false" flipV="false">
            <a:off x="9525000" y="1968500"/>
            <a:ext cx="2349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Varying Conditions</a:t>
            </a:r>
            <a:endParaRPr lang="en-US" sz="1100"/>
          </a:p>
        </p:txBody>
      </p:sp>
      <p:sp>
        <p:nvSpPr>
          <p:cNvPr name="AutoShape 12" id="12"/>
          <p:cNvSpPr/>
          <p:nvPr/>
        </p:nvSpPr>
        <p:spPr>
          <a:xfrm rot="0" flipH="false" flipV="false">
            <a:off x="9144000" y="2349500"/>
            <a:ext cx="2603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Lighting shifts (day/night), rain, fog, and snow drastically alter visual input and sensor data.</a:t>
            </a:r>
            <a:endParaRPr lang="en-US" sz="1100"/>
          </a:p>
        </p:txBody>
      </p:sp>
      <p:sp>
        <p:nvSpPr>
          <p:cNvPr name="AutoShape 13" id="13"/>
          <p:cNvSpPr/>
          <p:nvPr/>
        </p:nvSpPr>
        <p:spPr>
          <a:xfrm rot="0" flipH="false" flipV="false">
            <a:off x="5842000" y="3556000"/>
            <a:ext cx="2984500" cy="1460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032500" y="3746500"/>
            <a:ext cx="304800" cy="304800"/>
          </a:xfrm>
          <a:prstGeom prst="rect">
            <a:avLst/>
          </a:prstGeom>
        </p:spPr>
      </p:pic>
      <p:sp>
        <p:nvSpPr>
          <p:cNvPr name="AutoShape 15" id="15"/>
          <p:cNvSpPr/>
          <p:nvPr/>
        </p:nvSpPr>
        <p:spPr>
          <a:xfrm rot="0" flipH="false" flipV="false">
            <a:off x="6413500" y="3746500"/>
            <a:ext cx="2349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Small &amp; Distant Objects</a:t>
            </a:r>
            <a:endParaRPr lang="en-US" sz="1100"/>
          </a:p>
        </p:txBody>
      </p:sp>
      <p:sp>
        <p:nvSpPr>
          <p:cNvPr name="AutoShape 16" id="16"/>
          <p:cNvSpPr/>
          <p:nvPr/>
        </p:nvSpPr>
        <p:spPr>
          <a:xfrm rot="0" flipH="false" flipV="false">
            <a:off x="6032500" y="4127500"/>
            <a:ext cx="2603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Faraway hazards appear as tiny, indistinct blobs, challenging the system’s detection limits.</a:t>
            </a:r>
            <a:endParaRPr lang="en-US" sz="1100"/>
          </a:p>
        </p:txBody>
      </p:sp>
      <p:sp>
        <p:nvSpPr>
          <p:cNvPr name="AutoShape 17" id="17"/>
          <p:cNvSpPr/>
          <p:nvPr/>
        </p:nvSpPr>
        <p:spPr>
          <a:xfrm rot="0" flipH="false" flipV="false">
            <a:off x="8953500" y="3556000"/>
            <a:ext cx="2984500" cy="1460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144000" y="3746500"/>
            <a:ext cx="304800" cy="304800"/>
          </a:xfrm>
          <a:prstGeom prst="rect">
            <a:avLst/>
          </a:prstGeom>
        </p:spPr>
      </p:pic>
      <p:sp>
        <p:nvSpPr>
          <p:cNvPr name="AutoShape 19" id="19"/>
          <p:cNvSpPr/>
          <p:nvPr/>
        </p:nvSpPr>
        <p:spPr>
          <a:xfrm rot="0" flipH="false" flipV="false">
            <a:off x="9525000" y="3746500"/>
            <a:ext cx="2349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Occlusions</a:t>
            </a:r>
            <a:endParaRPr lang="en-US" sz="1100"/>
          </a:p>
        </p:txBody>
      </p:sp>
      <p:sp>
        <p:nvSpPr>
          <p:cNvPr name="AutoShape 20" id="20"/>
          <p:cNvSpPr/>
          <p:nvPr/>
        </p:nvSpPr>
        <p:spPr>
          <a:xfrm rot="0" flipH="false" flipV="false">
            <a:off x="9144000" y="4127500"/>
            <a:ext cx="2603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Critical objects are often hidden by other cars, buildings, or trees, requiring the AI to infer their presence.</a:t>
            </a:r>
            <a:endParaRPr lang="en-US" sz="1100"/>
          </a:p>
        </p:txBody>
      </p:sp>
      <p:sp>
        <p:nvSpPr>
          <p:cNvPr name="AutoShape 21" id="21"/>
          <p:cNvSpPr/>
          <p:nvPr/>
        </p:nvSpPr>
        <p:spPr>
          <a:xfrm rot="0" flipH="false" flipV="false">
            <a:off x="762000" y="5397500"/>
            <a:ext cx="10668000" cy="889000"/>
          </a:xfrm>
          <a:prstGeom prst="roundRect">
            <a:avLst>
              <a:gd name="adj" fmla="val 0"/>
            </a:avLst>
          </a:prstGeom>
          <a:solidFill>
            <a:srgbClr val="22D3EE">
              <a:alpha val="15000"/>
            </a:srgbClr>
          </a:solidFill>
          <a:ln cmpd="sng" cap="flat">
            <a:solidFill>
              <a:srgbClr val="09BAD4">
                <a:alpha val="15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52500" y="5562600"/>
            <a:ext cx="10287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微软雅黑"/>
                <a:ea typeface="微软雅黑"/>
                <a:cs typeface="微软雅黑"/>
                <a:sym typeface="微软雅黑"/>
              </a:rPr>
              <a:t>These complex, real-world obstacles make autonomous vehicle perception a rich, challenging, and rapidly evolving field at the forefront of artificial intelligence research.</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Kaggle Case Study: Touring Five Datasets</a:t>
            </a:r>
            <a:endParaRPr lang="en-US" sz="1100"/>
          </a:p>
        </p:txBody>
      </p:sp>
      <p:pic>
        <p:nvPicPr>
          <p:cNvPr name="Picture 4" id="4"/>
          <p:cNvPicPr>
            <a:picLocks noChangeAspect="true"/>
          </p:cNvPicPr>
          <p:nvPr/>
        </p:nvPicPr>
        <p:blipFill>
          <a:blip r:embed="rId3"/>
          <a:srcRect l="0" r="0" t="0" b="0"/>
          <a:stretch>
            <a:fillRect/>
          </a:stretch>
        </p:blipFill>
        <p:spPr>
          <a:xfrm rot="0" flipH="false" flipV="false">
            <a:off x="762000" y="2159000"/>
            <a:ext cx="2032000" cy="2032000"/>
          </a:xfrm>
          <a:prstGeom prst="rect">
            <a:avLst/>
          </a:prstGeom>
          <a:noFill/>
          <a:ln w="25400" cmpd="sng" cap="flat">
            <a:noFill/>
            <a:prstDash val="solid"/>
            <a:round/>
          </a:ln>
          <a:effectLst>
            <a:outerShdw dir="2700000" dist="63500" blurRad="127000" algn="tl" rotWithShape="false">
              <a:srgbClr val="22D3EE">
                <a:alpha val="30000"/>
              </a:srgbClr>
            </a:outerShdw>
          </a:effectLst>
        </p:spPr>
      </p:pic>
      <p:sp>
        <p:nvSpPr>
          <p:cNvPr name="AutoShape 5" id="5"/>
          <p:cNvSpPr/>
          <p:nvPr/>
        </p:nvSpPr>
        <p:spPr>
          <a:xfrm rot="0" flipH="false" flipV="false">
            <a:off x="762000" y="44450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151"/>
                </a:solidFill>
                <a:latin typeface="Noto Sans SC"/>
                <a:ea typeface="Noto Sans SC"/>
                <a:cs typeface="Noto Sans SC"/>
                <a:sym typeface="Noto Sans SC"/>
              </a:rPr>
              <a:t>The World's Largest</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400">
                <a:solidFill>
                  <a:srgbClr val="374151"/>
                </a:solidFill>
                <a:latin typeface="Noto Sans SC"/>
                <a:ea typeface="Noto Sans SC"/>
                <a:cs typeface="Noto Sans SC"/>
                <a:sym typeface="Noto Sans SC"/>
              </a:rPr>
              <a:t>Data Science Community</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B7280"/>
                </a:solidFill>
                <a:latin typeface="Noto Sans SC"/>
                <a:ea typeface="Noto Sans SC"/>
                <a:cs typeface="Noto Sans SC"/>
                <a:sym typeface="Noto Sans SC"/>
              </a:rPr>
              <a:t>A hub for sharing datasets, competing in ML challenges, and advancing AI knowledge.</a:t>
            </a:r>
          </a:p>
        </p:txBody>
      </p:sp>
      <p:sp>
        <p:nvSpPr>
          <p:cNvPr name="AutoShape 6" id="6"/>
          <p:cNvSpPr/>
          <p:nvPr/>
        </p:nvSpPr>
        <p:spPr>
          <a:xfrm rot="0" flipH="false" flipV="false">
            <a:off x="3683000" y="2159000"/>
            <a:ext cx="7366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1F2937"/>
                </a:solidFill>
                <a:latin typeface="Noto Sans SC"/>
                <a:ea typeface="Noto Sans SC"/>
                <a:cs typeface="Noto Sans SC"/>
                <a:sym typeface="Noto Sans SC"/>
              </a:rPr>
              <a:t>To truly grasp AI's capabilities, we must examine its foundation:</a:t>
            </a:r>
            <a:r>
              <a:rPr lang="en-US" b="true" i="false" strike="noStrike" u="none" sz="1500">
                <a:solidFill>
                  <a:srgbClr val="22D3EE"/>
                </a:solidFill>
                <a:latin typeface="Noto Sans SC"/>
                <a:ea typeface="Noto Sans SC"/>
                <a:cs typeface="Noto Sans SC"/>
                <a:sym typeface="Noto Sans SC"/>
              </a:rPr>
              <a:t>data</a:t>
            </a:r>
            <a:r>
              <a:rPr lang="en-US" b="false" i="false" strike="noStrike" u="none" sz="1500">
                <a:solidFill>
                  <a:srgbClr val="1F2937"/>
                </a:solidFill>
                <a:latin typeface="Noto Sans SC"/>
                <a:ea typeface="Noto Sans SC"/>
                <a:cs typeface="Noto Sans SC"/>
                <a:sym typeface="Noto Sans SC"/>
              </a:rPr>
              <a:t>. Kaggle hosts millions of datasets that power machine learning innovation across industries. In this tour, we’ll explore five diverse datasets to understand the breadth of AI applications and the critical questions that define any successful AI project.</a:t>
            </a:r>
            <a:endParaRPr lang="en-US" sz="1100"/>
          </a:p>
        </p:txBody>
      </p:sp>
      <p:sp>
        <p:nvSpPr>
          <p:cNvPr name="AutoShape 7" id="7"/>
          <p:cNvSpPr/>
          <p:nvPr/>
        </p:nvSpPr>
        <p:spPr>
          <a:xfrm rot="0" flipH="false" flipV="false">
            <a:off x="3683000" y="4191000"/>
            <a:ext cx="2362200" cy="21590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873500" y="4381500"/>
            <a:ext cx="304800" cy="304800"/>
          </a:xfrm>
          <a:prstGeom prst="rect">
            <a:avLst/>
          </a:prstGeom>
        </p:spPr>
      </p:pic>
      <p:sp>
        <p:nvSpPr>
          <p:cNvPr name="AutoShape 9" id="9"/>
          <p:cNvSpPr/>
          <p:nvPr/>
        </p:nvSpPr>
        <p:spPr>
          <a:xfrm rot="0" flipH="false" flipV="false">
            <a:off x="4254500" y="43561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01 The Input</a:t>
            </a:r>
            <a:endParaRPr lang="en-US" sz="1100"/>
          </a:p>
        </p:txBody>
      </p:sp>
      <p:sp>
        <p:nvSpPr>
          <p:cNvPr name="AutoShape 10" id="10"/>
          <p:cNvSpPr/>
          <p:nvPr/>
        </p:nvSpPr>
        <p:spPr>
          <a:xfrm rot="0" flipH="false" flipV="false">
            <a:off x="3873500" y="4889500"/>
            <a:ext cx="2108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What raw data feeds the model? Identify the source—images, text, sensor logs, or numerical records—that fuels the learning process.</a:t>
            </a:r>
            <a:endParaRPr lang="en-US" sz="1100"/>
          </a:p>
        </p:txBody>
      </p:sp>
      <p:sp>
        <p:nvSpPr>
          <p:cNvPr name="AutoShape 11" id="11"/>
          <p:cNvSpPr/>
          <p:nvPr/>
        </p:nvSpPr>
        <p:spPr>
          <a:xfrm rot="0" flipH="false" flipV="false">
            <a:off x="6197600" y="4191000"/>
            <a:ext cx="2362200" cy="21590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88100" y="4381500"/>
            <a:ext cx="304800" cy="304800"/>
          </a:xfrm>
          <a:prstGeom prst="rect">
            <a:avLst/>
          </a:prstGeom>
        </p:spPr>
      </p:pic>
      <p:sp>
        <p:nvSpPr>
          <p:cNvPr name="AutoShape 13" id="13"/>
          <p:cNvSpPr/>
          <p:nvPr/>
        </p:nvSpPr>
        <p:spPr>
          <a:xfrm rot="0" flipH="false" flipV="false">
            <a:off x="6769100" y="43561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02 The Output</a:t>
            </a:r>
            <a:endParaRPr lang="en-US" sz="1100"/>
          </a:p>
        </p:txBody>
      </p:sp>
      <p:sp>
        <p:nvSpPr>
          <p:cNvPr name="AutoShape 14" id="14"/>
          <p:cNvSpPr/>
          <p:nvPr/>
        </p:nvSpPr>
        <p:spPr>
          <a:xfrm rot="0" flipH="false" flipV="false">
            <a:off x="6388100" y="4889500"/>
            <a:ext cx="2108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What is the AI designed to produce? Define the goal—whether it's a prediction, classification, recommendation, or creative generation.</a:t>
            </a:r>
            <a:endParaRPr lang="en-US" sz="1100"/>
          </a:p>
        </p:txBody>
      </p:sp>
      <p:sp>
        <p:nvSpPr>
          <p:cNvPr name="AutoShape 15" id="15"/>
          <p:cNvSpPr/>
          <p:nvPr/>
        </p:nvSpPr>
        <p:spPr>
          <a:xfrm rot="0" flipH="false" flipV="false">
            <a:off x="8712200" y="4191000"/>
            <a:ext cx="2362200" cy="21590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902700" y="4381500"/>
            <a:ext cx="304800" cy="304800"/>
          </a:xfrm>
          <a:prstGeom prst="rect">
            <a:avLst/>
          </a:prstGeom>
        </p:spPr>
      </p:pic>
      <p:sp>
        <p:nvSpPr>
          <p:cNvPr name="AutoShape 17" id="17"/>
          <p:cNvSpPr/>
          <p:nvPr/>
        </p:nvSpPr>
        <p:spPr>
          <a:xfrm rot="0" flipH="false" flipV="false">
            <a:off x="9283700" y="43561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Defining Success</a:t>
            </a:r>
            <a:endParaRPr lang="en-US" sz="1100"/>
          </a:p>
        </p:txBody>
      </p:sp>
      <p:sp>
        <p:nvSpPr>
          <p:cNvPr name="AutoShape 18" id="18"/>
          <p:cNvSpPr/>
          <p:nvPr/>
        </p:nvSpPr>
        <p:spPr>
          <a:xfrm rot="0" flipH="false" flipV="false">
            <a:off x="8902700" y="4889500"/>
            <a:ext cx="2108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How do we measure effectiveness? Establish key metrics—accuracy, efficiency, or user satisfaction—to evaluate the model's performance.</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Dataset Tour 1: Healthcare &amp; Climate</a:t>
            </a:r>
            <a:endParaRPr lang="en-US" sz="1100"/>
          </a:p>
        </p:txBody>
      </p:sp>
      <p:sp>
        <p:nvSpPr>
          <p:cNvPr name="AutoShape 4" id="4"/>
          <p:cNvSpPr/>
          <p:nvPr/>
        </p:nvSpPr>
        <p:spPr>
          <a:xfrm rot="0" flipH="false" flipV="false">
            <a:off x="762000" y="1778000"/>
            <a:ext cx="5270500" cy="4445000"/>
          </a:xfrm>
          <a:prstGeom prst="roundRect">
            <a:avLst>
              <a:gd name="adj" fmla="val 0"/>
            </a:avLst>
          </a:prstGeom>
          <a:solidFill>
            <a:srgbClr val="FFFFFF">
              <a:alpha val="6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62" b="62"/>
          <a:stretch>
            <a:fillRect/>
          </a:stretch>
        </p:blipFill>
        <p:spPr>
          <a:xfrm rot="0" flipH="false" flipV="false">
            <a:off x="1016000" y="2032000"/>
            <a:ext cx="2286000" cy="1524000"/>
          </a:xfrm>
          <a:prstGeom prst="roundRect">
            <a:avLst>
              <a:gd name="adj" fmla="val 8333"/>
            </a:avLst>
          </a:prstGeom>
          <a:noFill/>
          <a:ln w="12700" cmpd="sng" cap="flat">
            <a:solidFill>
              <a:srgbClr val="22D3EE">
                <a:alpha val="20000"/>
              </a:srgbClr>
            </a:solidFill>
            <a:prstDash val="solid"/>
            <a:round/>
          </a:ln>
        </p:spPr>
      </p:pic>
      <p:sp>
        <p:nvSpPr>
          <p:cNvPr name="AutoShape 6" id="6"/>
          <p:cNvSpPr/>
          <p:nvPr/>
        </p:nvSpPr>
        <p:spPr>
          <a:xfrm rot="0" flipH="false" flipV="false">
            <a:off x="3492500" y="2032000"/>
            <a:ext cx="2349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1F2937"/>
                </a:solidFill>
                <a:latin typeface="Noto Sans SC"/>
                <a:ea typeface="Noto Sans SC"/>
                <a:cs typeface="Noto Sans SC"/>
                <a:sym typeface="Noto Sans SC"/>
              </a:rPr>
              <a:t>AI in Medical Imaging</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Automated analysis of radiographic scans to rapidly identify respiratory conditions like pneumonia.</a:t>
            </a:r>
          </a:p>
        </p:txBody>
      </p:sp>
      <p:cxnSp>
        <p:nvCxnSpPr>
          <p:cNvPr name="Connector 7" id="7"/>
          <p:cNvCxnSpPr/>
          <p:nvPr/>
        </p:nvCxnSpPr>
        <p:spPr>
          <a:xfrm rot="-9167" flipH="false" flipV="false">
            <a:off x="1016008" y="3740150"/>
            <a:ext cx="4762500" cy="12700"/>
          </a:xfrm>
          <a:prstGeom prst="straightConnector1">
            <a:avLst/>
          </a:prstGeom>
          <a:solidFill>
            <a:srgbClr val="DEE0E3">
              <a:alpha val="100000"/>
            </a:srgbClr>
          </a:solidFill>
          <a:ln w="12700" cmpd="sng" cap="flat">
            <a:solidFill>
              <a:srgbClr val="22D3EE">
                <a:alpha val="20000"/>
              </a:srgbClr>
            </a:solidFill>
            <a:prstDash val="dash"/>
            <a:round/>
            <a:headEnd type="none" w="med" len="med"/>
            <a:tailEnd type="none" w="med" len="med"/>
          </a:ln>
        </p:spPr>
      </p:cxnSp>
      <p:sp>
        <p:nvSpPr>
          <p:cNvPr name="AutoShape 8" id="8"/>
          <p:cNvSpPr/>
          <p:nvPr/>
        </p:nvSpPr>
        <p:spPr>
          <a:xfrm rot="0" flipH="false" flipV="false">
            <a:off x="1016000" y="3937000"/>
            <a:ext cx="4762500" cy="209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D3EE"/>
                </a:solidFill>
                <a:latin typeface="Noto Sans SC"/>
                <a:ea typeface="Noto Sans SC"/>
                <a:cs typeface="Noto Sans SC"/>
                <a:sym typeface="Noto Sans SC"/>
              </a:rPr>
              <a:t>● Problem Type: Classification</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true" i="false" strike="noStrike" u="none" sz="1600">
                <a:solidFill>
                  <a:srgbClr val="374151"/>
                </a:solidFill>
                <a:latin typeface="Noto Sans SC"/>
                <a:ea typeface="Noto Sans SC"/>
                <a:cs typeface="Noto Sans SC"/>
                <a:sym typeface="Noto Sans SC"/>
              </a:rPr>
              <a:t>Source:</a:t>
            </a:r>
            <a:r>
              <a:rPr lang="en-US" b="false" i="false" strike="noStrike" u="none" sz="1600">
                <a:solidFill>
                  <a:srgbClr val="374151"/>
                </a:solidFill>
                <a:latin typeface="Noto Sans SC"/>
                <a:ea typeface="Noto Sans SC"/>
                <a:cs typeface="Noto Sans SC"/>
                <a:sym typeface="Noto Sans SC"/>
              </a:rPr>
              <a:t>paultimothymooney/chest-xray-pneumonia</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true" i="false" strike="noStrike" u="none" sz="1600">
                <a:solidFill>
                  <a:srgbClr val="374151"/>
                </a:solidFill>
                <a:latin typeface="Noto Sans SC"/>
                <a:ea typeface="Noto Sans SC"/>
                <a:cs typeface="Noto Sans SC"/>
                <a:sym typeface="Noto Sans SC"/>
              </a:rPr>
              <a:t>Objective:</a:t>
            </a:r>
            <a:r>
              <a:rPr lang="en-US" b="false" i="false" strike="noStrike" u="none" sz="1600">
                <a:solidFill>
                  <a:srgbClr val="374151"/>
                </a:solidFill>
                <a:latin typeface="Noto Sans SC"/>
                <a:ea typeface="Noto Sans SC"/>
                <a:cs typeface="Noto Sans SC"/>
                <a:sym typeface="Noto Sans SC"/>
              </a:rPr>
              <a:t>Differentiate between "normal" lung scans and those indicating pneumonia from grayscale X-rays.</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true" i="false" strike="noStrike" u="none" sz="1600">
                <a:solidFill>
                  <a:srgbClr val="374151"/>
                </a:solidFill>
                <a:latin typeface="Noto Sans SC"/>
                <a:ea typeface="Noto Sans SC"/>
                <a:cs typeface="Noto Sans SC"/>
                <a:sym typeface="Noto Sans SC"/>
              </a:rPr>
              <a:t>Value:</a:t>
            </a:r>
            <a:r>
              <a:rPr lang="en-US" b="false" i="false" strike="noStrike" u="none" sz="1600">
                <a:solidFill>
                  <a:srgbClr val="374151"/>
                </a:solidFill>
                <a:latin typeface="Noto Sans SC"/>
                <a:ea typeface="Noto Sans SC"/>
                <a:cs typeface="Noto Sans SC"/>
                <a:sym typeface="Noto Sans SC"/>
              </a:rPr>
              <a:t>Speeds up triage and supports radiologists in underserved regions.</a:t>
            </a:r>
          </a:p>
        </p:txBody>
      </p:sp>
      <p:sp>
        <p:nvSpPr>
          <p:cNvPr name="AutoShape 9" id="9"/>
          <p:cNvSpPr/>
          <p:nvPr/>
        </p:nvSpPr>
        <p:spPr>
          <a:xfrm rot="0" flipH="false" flipV="false">
            <a:off x="6223000" y="1778000"/>
            <a:ext cx="5270500" cy="4445000"/>
          </a:xfrm>
          <a:prstGeom prst="roundRect">
            <a:avLst>
              <a:gd name="adj" fmla="val 0"/>
            </a:avLst>
          </a:prstGeom>
          <a:solidFill>
            <a:srgbClr val="FFFFFF">
              <a:alpha val="6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srcRect l="0" r="0" t="0" b="0"/>
          <a:stretch>
            <a:fillRect/>
          </a:stretch>
        </p:blipFill>
        <p:spPr>
          <a:xfrm rot="0" flipH="false" flipV="false">
            <a:off x="6477000" y="2032000"/>
            <a:ext cx="2286000" cy="1524000"/>
          </a:xfrm>
          <a:prstGeom prst="roundRect">
            <a:avLst>
              <a:gd name="adj" fmla="val 8333"/>
            </a:avLst>
          </a:prstGeom>
          <a:noFill/>
          <a:ln w="12700" cmpd="sng" cap="flat">
            <a:solidFill>
              <a:srgbClr val="22D3EE">
                <a:alpha val="20000"/>
              </a:srgbClr>
            </a:solidFill>
            <a:prstDash val="solid"/>
            <a:round/>
          </a:ln>
        </p:spPr>
      </p:pic>
      <p:sp>
        <p:nvSpPr>
          <p:cNvPr name="AutoShape 11" id="11"/>
          <p:cNvSpPr/>
          <p:nvPr/>
        </p:nvSpPr>
        <p:spPr>
          <a:xfrm rot="0" flipH="false" flipV="false">
            <a:off x="8953500" y="2032000"/>
            <a:ext cx="2349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1F2937"/>
                </a:solidFill>
                <a:latin typeface="Noto Sans SC"/>
                <a:ea typeface="Noto Sans SC"/>
                <a:cs typeface="Noto Sans SC"/>
                <a:sym typeface="Noto Sans SC"/>
              </a:rPr>
              <a:t>Climate Trend Forecasting</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Harnessing decades of meteorological records to model and predict global environmental shifts.</a:t>
            </a:r>
          </a:p>
        </p:txBody>
      </p:sp>
      <p:cxnSp>
        <p:nvCxnSpPr>
          <p:cNvPr name="Connector 12" id="12"/>
          <p:cNvCxnSpPr/>
          <p:nvPr/>
        </p:nvCxnSpPr>
        <p:spPr>
          <a:xfrm rot="-9167" flipH="false" flipV="false">
            <a:off x="6477008" y="3740150"/>
            <a:ext cx="4762500" cy="12700"/>
          </a:xfrm>
          <a:prstGeom prst="straightConnector1">
            <a:avLst/>
          </a:prstGeom>
          <a:solidFill>
            <a:srgbClr val="DEE0E3">
              <a:alpha val="100000"/>
            </a:srgbClr>
          </a:solidFill>
          <a:ln w="12700" cmpd="sng" cap="flat">
            <a:solidFill>
              <a:srgbClr val="22D3EE">
                <a:alpha val="20000"/>
              </a:srgbClr>
            </a:solidFill>
            <a:prstDash val="dash"/>
            <a:round/>
            <a:headEnd type="none" w="med" len="med"/>
            <a:tailEnd type="none" w="med" len="med"/>
          </a:ln>
        </p:spPr>
      </p:cxnSp>
      <p:sp>
        <p:nvSpPr>
          <p:cNvPr name="AutoShape 13" id="13"/>
          <p:cNvSpPr/>
          <p:nvPr/>
        </p:nvSpPr>
        <p:spPr>
          <a:xfrm rot="0" flipH="false" flipV="false">
            <a:off x="6477000" y="3937000"/>
            <a:ext cx="4762500" cy="209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D3EE"/>
                </a:solidFill>
                <a:latin typeface="Noto Sans SC"/>
                <a:ea typeface="Noto Sans SC"/>
                <a:cs typeface="Noto Sans SC"/>
                <a:sym typeface="Noto Sans SC"/>
              </a:rPr>
              <a:t>● Problem Type: Regression</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true" i="false" strike="noStrike" u="none" sz="1600">
                <a:solidFill>
                  <a:srgbClr val="374151"/>
                </a:solidFill>
                <a:latin typeface="Noto Sans SC"/>
                <a:ea typeface="Noto Sans SC"/>
                <a:cs typeface="Noto Sans SC"/>
                <a:sym typeface="Noto Sans SC"/>
              </a:rPr>
              <a:t>Source:</a:t>
            </a:r>
            <a:r>
              <a:rPr lang="en-US" b="false" i="false" strike="noStrike" u="none" sz="1600">
                <a:solidFill>
                  <a:srgbClr val="374151"/>
                </a:solidFill>
                <a:latin typeface="Noto Sans SC"/>
                <a:ea typeface="Noto Sans SC"/>
                <a:cs typeface="Noto Sans SC"/>
                <a:sym typeface="Noto Sans SC"/>
              </a:rPr>
              <a:t>berkeleyearth/climate-change-surface-temp</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true" i="false" strike="noStrike" u="none" sz="1600">
                <a:solidFill>
                  <a:srgbClr val="374151"/>
                </a:solidFill>
                <a:latin typeface="Noto Sans SC"/>
                <a:ea typeface="Noto Sans SC"/>
                <a:cs typeface="Noto Sans SC"/>
                <a:sym typeface="Noto Sans SC"/>
              </a:rPr>
              <a:t>Objective:</a:t>
            </a:r>
            <a:r>
              <a:rPr lang="en-US" b="false" i="false" strike="noStrike" u="none" sz="1600">
                <a:solidFill>
                  <a:srgbClr val="374151"/>
                </a:solidFill>
                <a:latin typeface="Noto Sans SC"/>
                <a:ea typeface="Noto Sans SC"/>
                <a:cs typeface="Noto Sans SC"/>
                <a:sym typeface="Noto Sans SC"/>
              </a:rPr>
              <a:t>Predict future temperatures and quantify warming rates using historical station data.</a:t>
            </a:r>
            <a:r>
              <a:rPr lang="en-US" b="false" i="false" strike="noStrike" u="none" sz="1600">
                <a:solidFill>
                  <a:srgbClr val="1F2329"/>
                </a:solidFill>
                <a:latin typeface="Noto Sans SC"/>
                <a:ea typeface="Noto Sans SC"/>
                <a:cs typeface="Noto Sans SC"/>
                <a:sym typeface="Noto Sans SC"/>
              </a:rPr>
              <a:t/>
            </a:r>
          </a:p>
          <a:p>
            <a:pPr algn="l" marL="0" indent="0">
              <a:lnSpc>
                <a:spcPct val="125000"/>
              </a:lnSpc>
            </a:pPr>
            <a:r>
              <a:rPr lang="en-US" b="true" i="false" strike="noStrike" u="none" sz="1600">
                <a:solidFill>
                  <a:srgbClr val="374151"/>
                </a:solidFill>
                <a:latin typeface="Noto Sans SC"/>
                <a:ea typeface="Noto Sans SC"/>
                <a:cs typeface="Noto Sans SC"/>
                <a:sym typeface="Noto Sans SC"/>
              </a:rPr>
              <a:t>Value:</a:t>
            </a:r>
            <a:r>
              <a:rPr lang="en-US" b="false" i="false" strike="noStrike" u="none" sz="1600">
                <a:solidFill>
                  <a:srgbClr val="374151"/>
                </a:solidFill>
                <a:latin typeface="Noto Sans SC"/>
                <a:ea typeface="Noto Sans SC"/>
                <a:cs typeface="Noto Sans SC"/>
                <a:sym typeface="Noto Sans SC"/>
              </a:rPr>
              <a:t>Provides empirical evidence for climate policy and adaptation planning.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Dataset Tour 2: Finance &amp; Sports</a:t>
            </a:r>
            <a:endParaRPr lang="en-US" sz="1100"/>
          </a:p>
        </p:txBody>
      </p:sp>
      <p:sp>
        <p:nvSpPr>
          <p:cNvPr name="AutoShape 4" id="4"/>
          <p:cNvSpPr/>
          <p:nvPr/>
        </p:nvSpPr>
        <p:spPr>
          <a:xfrm rot="0" flipH="false" flipV="false">
            <a:off x="762000" y="1651000"/>
            <a:ext cx="5207000" cy="4445000"/>
          </a:xfrm>
          <a:prstGeom prst="roundRect">
            <a:avLst>
              <a:gd name="adj" fmla="val 0"/>
            </a:avLst>
          </a:prstGeom>
          <a:solidFill>
            <a:srgbClr val="FFFFFF">
              <a:alpha val="6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9050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D3EE"/>
                </a:solidFill>
                <a:latin typeface="微软雅黑"/>
                <a:ea typeface="微软雅黑"/>
                <a:cs typeface="微软雅黑"/>
                <a:sym typeface="微软雅黑"/>
              </a:rPr>
              <a:t>01 / Finance: Credit Card Fraud</a:t>
            </a:r>
            <a:endParaRPr lang="en-US" sz="1100"/>
          </a:p>
        </p:txBody>
      </p:sp>
      <p:pic>
        <p:nvPicPr>
          <p:cNvPr name="Picture 6" id="6"/>
          <p:cNvPicPr>
            <a:picLocks noChangeAspect="true"/>
          </p:cNvPicPr>
          <p:nvPr/>
        </p:nvPicPr>
        <p:blipFill>
          <a:blip r:embed="rId3"/>
          <a:srcRect l="0" r="0" t="0" b="0"/>
          <a:stretch>
            <a:fillRect/>
          </a:stretch>
        </p:blipFill>
        <p:spPr>
          <a:xfrm rot="0" flipH="false" flipV="false">
            <a:off x="952500" y="2540000"/>
            <a:ext cx="1651000" cy="1651000"/>
          </a:xfrm>
          <a:prstGeom prst="roundRect">
            <a:avLst>
              <a:gd name="adj" fmla="val 9230"/>
            </a:avLst>
          </a:prstGeom>
          <a:noFill/>
          <a:ln w="25400" cmpd="sng" cap="flat">
            <a:solidFill>
              <a:srgbClr val="22D3EE">
                <a:alpha val="60000"/>
              </a:srgbClr>
            </a:solidFill>
            <a:prstDash val="solid"/>
            <a:round/>
          </a:ln>
        </p:spPr>
      </p:pic>
      <p:sp>
        <p:nvSpPr>
          <p:cNvPr name="AutoShape 7" id="7"/>
          <p:cNvSpPr/>
          <p:nvPr/>
        </p:nvSpPr>
        <p:spPr>
          <a:xfrm rot="0" flipH="false" flipV="false">
            <a:off x="2730500" y="2540000"/>
            <a:ext cx="29845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74151"/>
                </a:solidFill>
                <a:latin typeface="Noto Sans SC"/>
                <a:ea typeface="Noto Sans SC"/>
                <a:cs typeface="Noto Sans SC"/>
                <a:sym typeface="Noto Sans SC"/>
              </a:rPr>
              <a:t>Source:</a:t>
            </a:r>
            <a:r>
              <a:rPr lang="en-US" b="false" i="false" strike="noStrike" u="none" sz="1300">
                <a:solidFill>
                  <a:srgbClr val="374151"/>
                </a:solidFill>
                <a:latin typeface="Noto Sans SC"/>
                <a:ea typeface="Noto Sans SC"/>
                <a:cs typeface="Noto Sans SC"/>
                <a:sym typeface="Noto Sans SC"/>
              </a:rPr>
              <a:t>mlg-ulb/creditcardfraud</a:t>
            </a:r>
            <a:r>
              <a:rPr lang="en-US" b="false" i="false" strike="noStrike" u="none" sz="1300">
                <a:solidFill>
                  <a:srgbClr val="374151"/>
                </a:solidFill>
                <a:latin typeface="Noto Sans SC"/>
                <a:ea typeface="Noto Sans SC"/>
                <a:cs typeface="Noto Sans SC"/>
                <a:sym typeface="Noto Sans SC"/>
              </a:rPr>
              <a:t/>
            </a:r>
            <a:br>
              <a:rPr lang="en-US" b="false" i="false" strike="noStrike" u="none" sz="1300">
                <a:solidFill>
                  <a:srgbClr val="374151"/>
                </a:solidFill>
                <a:latin typeface="Noto Sans SC"/>
                <a:ea typeface="Noto Sans SC"/>
                <a:cs typeface="Noto Sans SC"/>
                <a:sym typeface="Noto Sans SC"/>
              </a:rPr>
            </a:br>
            <a:r>
              <a:rPr lang="en-US" b="true" i="false" strike="noStrike" u="none" sz="1300">
                <a:solidFill>
                  <a:srgbClr val="374151"/>
                </a:solidFill>
                <a:latin typeface="Noto Sans SC"/>
                <a:ea typeface="Noto Sans SC"/>
                <a:cs typeface="Noto Sans SC"/>
                <a:sym typeface="Noto Sans SC"/>
              </a:rPr>
              <a:t>Input:</a:t>
            </a:r>
            <a:r>
              <a:rPr lang="en-US" b="false" i="false" strike="noStrike" u="none" sz="1300">
                <a:solidFill>
                  <a:srgbClr val="374151"/>
                </a:solidFill>
                <a:latin typeface="Noto Sans SC"/>
                <a:ea typeface="Noto Sans SC"/>
                <a:cs typeface="Noto Sans SC"/>
                <a:sym typeface="Noto Sans SC"/>
              </a:rPr>
              <a:t>Anonymized transaction records</a:t>
            </a:r>
            <a:r>
              <a:rPr lang="en-US" b="false" i="false" strike="noStrike" u="none" sz="1300">
                <a:solidFill>
                  <a:srgbClr val="374151"/>
                </a:solidFill>
                <a:latin typeface="Noto Sans SC"/>
                <a:ea typeface="Noto Sans SC"/>
                <a:cs typeface="Noto Sans SC"/>
                <a:sym typeface="Noto Sans SC"/>
              </a:rPr>
              <a:t/>
            </a:r>
            <a:br>
              <a:rPr lang="en-US" b="false" i="false" strike="noStrike" u="none" sz="1300">
                <a:solidFill>
                  <a:srgbClr val="374151"/>
                </a:solidFill>
                <a:latin typeface="Noto Sans SC"/>
                <a:ea typeface="Noto Sans SC"/>
                <a:cs typeface="Noto Sans SC"/>
                <a:sym typeface="Noto Sans SC"/>
              </a:rPr>
            </a:br>
            <a:r>
              <a:rPr lang="en-US" b="true" i="false" strike="noStrike" u="none" sz="1300">
                <a:solidFill>
                  <a:srgbClr val="374151"/>
                </a:solidFill>
                <a:latin typeface="Noto Sans SC"/>
                <a:ea typeface="Noto Sans SC"/>
                <a:cs typeface="Noto Sans SC"/>
                <a:sym typeface="Noto Sans SC"/>
              </a:rPr>
              <a:t>Output:</a:t>
            </a:r>
            <a:r>
              <a:rPr lang="en-US" b="false" i="false" strike="noStrike" u="none" sz="1300">
                <a:solidFill>
                  <a:srgbClr val="374151"/>
                </a:solidFill>
                <a:latin typeface="Noto Sans SC"/>
                <a:ea typeface="Noto Sans SC"/>
                <a:cs typeface="Noto Sans SC"/>
                <a:sym typeface="Noto Sans SC"/>
              </a:rPr>
              <a:t>Binary label: Legit / Fraud</a:t>
            </a:r>
            <a:endParaRPr lang="en-US" sz="1100"/>
          </a:p>
        </p:txBody>
      </p:sp>
      <p:cxnSp>
        <p:nvCxnSpPr>
          <p:cNvPr name="Connector 8" id="8"/>
          <p:cNvCxnSpPr/>
          <p:nvPr/>
        </p:nvCxnSpPr>
        <p:spPr>
          <a:xfrm rot="-9046" flipH="false" flipV="false">
            <a:off x="952508" y="4375150"/>
            <a:ext cx="4826000" cy="12700"/>
          </a:xfrm>
          <a:prstGeom prst="straightConnector1">
            <a:avLst/>
          </a:prstGeom>
          <a:solidFill>
            <a:srgbClr val="DEE0E3">
              <a:alpha val="100000"/>
            </a:srgbClr>
          </a:solidFill>
          <a:ln w="12700" cmpd="sng" cap="flat">
            <a:solidFill>
              <a:srgbClr val="22D3EE">
                <a:alpha val="25000"/>
              </a:srgbClr>
            </a:solidFill>
            <a:prstDash val="dash"/>
            <a:round/>
            <a:headEnd type="none" w="med" len="med"/>
            <a:tailEnd type="none" w="med" len="med"/>
          </a:ln>
        </p:spPr>
      </p:cxnSp>
      <p:sp>
        <p:nvSpPr>
          <p:cNvPr name="AutoShape 9" id="9"/>
          <p:cNvSpPr/>
          <p:nvPr/>
        </p:nvSpPr>
        <p:spPr>
          <a:xfrm rot="0" flipH="false" flipV="false">
            <a:off x="952500" y="4572000"/>
            <a:ext cx="4826000" cy="1397000"/>
          </a:xfrm>
          <a:prstGeom prst="roundRect">
            <a:avLst>
              <a:gd name="adj" fmla="val 0"/>
            </a:avLst>
          </a:prstGeom>
          <a:solidFill>
            <a:srgbClr val="22D3E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79500" y="4699000"/>
            <a:ext cx="4572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0D9488"/>
                </a:solidFill>
                <a:latin typeface="Noto Sans SC"/>
                <a:ea typeface="Noto Sans SC"/>
                <a:cs typeface="Noto Sans SC"/>
                <a:sym typeface="Noto Sans SC"/>
              </a:rPr>
              <a:t>Core Challenge: Extreme Class Imbalance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Only</a:t>
            </a:r>
            <a:r>
              <a:rPr lang="en-US" b="true" i="false" strike="noStrike" u="none" sz="1300">
                <a:solidFill>
                  <a:srgbClr val="4B5563"/>
                </a:solidFill>
                <a:latin typeface="Noto Sans SC"/>
                <a:ea typeface="Noto Sans SC"/>
                <a:cs typeface="Noto Sans SC"/>
                <a:sym typeface="Noto Sans SC"/>
              </a:rPr>
              <a:t>0.17%</a:t>
            </a:r>
            <a:r>
              <a:rPr lang="en-US" b="false" i="false" strike="noStrike" u="none" sz="1300">
                <a:solidFill>
                  <a:srgbClr val="4B5563"/>
                </a:solidFill>
                <a:latin typeface="Noto Sans SC"/>
                <a:ea typeface="Noto Sans SC"/>
                <a:cs typeface="Noto Sans SC"/>
                <a:sym typeface="Noto Sans SC"/>
              </a:rPr>
              <a:t>of transactions are fraudulent. This imbalance makes detection extremely hard, as missing a fraud case leads to significant financial loss.</a:t>
            </a:r>
            <a:endParaRPr lang="en-US" sz="1100"/>
          </a:p>
        </p:txBody>
      </p:sp>
      <p:sp>
        <p:nvSpPr>
          <p:cNvPr name="AutoShape 11" id="11"/>
          <p:cNvSpPr/>
          <p:nvPr/>
        </p:nvSpPr>
        <p:spPr>
          <a:xfrm rot="0" flipH="false" flipV="false">
            <a:off x="6223000" y="1651000"/>
            <a:ext cx="5207000" cy="4445000"/>
          </a:xfrm>
          <a:prstGeom prst="roundRect">
            <a:avLst>
              <a:gd name="adj" fmla="val 0"/>
            </a:avLst>
          </a:prstGeom>
          <a:solidFill>
            <a:srgbClr val="FFFFFF">
              <a:alpha val="6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413500" y="19050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D3EE"/>
                </a:solidFill>
                <a:latin typeface="微软雅黑"/>
                <a:ea typeface="微软雅黑"/>
                <a:cs typeface="微软雅黑"/>
                <a:sym typeface="微软雅黑"/>
              </a:rPr>
              <a:t>02 / Sports: FIFA Player Ratings</a:t>
            </a:r>
            <a:endParaRPr lang="en-US" sz="1100"/>
          </a:p>
        </p:txBody>
      </p:sp>
      <p:pic>
        <p:nvPicPr>
          <p:cNvPr name="Picture 13" id="13"/>
          <p:cNvPicPr>
            <a:picLocks noChangeAspect="true"/>
          </p:cNvPicPr>
          <p:nvPr/>
        </p:nvPicPr>
        <p:blipFill>
          <a:blip r:embed="rId4"/>
          <a:srcRect l="17524" r="17524" t="0" b="0"/>
          <a:stretch>
            <a:fillRect/>
          </a:stretch>
        </p:blipFill>
        <p:spPr>
          <a:xfrm rot="0" flipH="false" flipV="false">
            <a:off x="6413500" y="2540000"/>
            <a:ext cx="2286000" cy="1651000"/>
          </a:xfrm>
          <a:prstGeom prst="roundRect">
            <a:avLst>
              <a:gd name="adj" fmla="val 9230"/>
            </a:avLst>
          </a:prstGeom>
          <a:noFill/>
          <a:ln w="25400" cmpd="sng" cap="flat">
            <a:solidFill>
              <a:srgbClr val="22D3EE">
                <a:alpha val="60000"/>
              </a:srgbClr>
            </a:solidFill>
            <a:prstDash val="solid"/>
            <a:round/>
          </a:ln>
        </p:spPr>
      </p:pic>
      <p:sp>
        <p:nvSpPr>
          <p:cNvPr name="AutoShape 14" id="14"/>
          <p:cNvSpPr/>
          <p:nvPr/>
        </p:nvSpPr>
        <p:spPr>
          <a:xfrm rot="0" flipH="false" flipV="false">
            <a:off x="8826500" y="2540000"/>
            <a:ext cx="24765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374151"/>
                </a:solidFill>
                <a:latin typeface="Noto Sans SC"/>
                <a:ea typeface="Noto Sans SC"/>
                <a:cs typeface="Noto Sans SC"/>
                <a:sym typeface="Noto Sans SC"/>
              </a:rPr>
              <a:t>Source:</a:t>
            </a:r>
            <a:r>
              <a:rPr lang="en-US" b="false" i="false" strike="noStrike" u="none" sz="1300">
                <a:solidFill>
                  <a:srgbClr val="374151"/>
                </a:solidFill>
                <a:latin typeface="Noto Sans SC"/>
                <a:ea typeface="Noto Sans SC"/>
                <a:cs typeface="Noto Sans SC"/>
                <a:sym typeface="Noto Sans SC"/>
              </a:rPr>
              <a:t>stefanoleone992/fifa22</a:t>
            </a:r>
            <a:r>
              <a:rPr lang="en-US" b="false" i="false" strike="noStrike" u="none" sz="1300">
                <a:solidFill>
                  <a:srgbClr val="374151"/>
                </a:solidFill>
                <a:latin typeface="Noto Sans SC"/>
                <a:ea typeface="Noto Sans SC"/>
                <a:cs typeface="Noto Sans SC"/>
                <a:sym typeface="Noto Sans SC"/>
              </a:rPr>
              <a:t/>
            </a:r>
            <a:br>
              <a:rPr lang="en-US" b="false" i="false" strike="noStrike" u="none" sz="1300">
                <a:solidFill>
                  <a:srgbClr val="374151"/>
                </a:solidFill>
                <a:latin typeface="Noto Sans SC"/>
                <a:ea typeface="Noto Sans SC"/>
                <a:cs typeface="Noto Sans SC"/>
                <a:sym typeface="Noto Sans SC"/>
              </a:rPr>
            </a:br>
            <a:r>
              <a:rPr lang="en-US" b="true" i="false" strike="noStrike" u="none" sz="1300">
                <a:solidFill>
                  <a:srgbClr val="374151"/>
                </a:solidFill>
                <a:latin typeface="Noto Sans SC"/>
                <a:ea typeface="Noto Sans SC"/>
                <a:cs typeface="Noto Sans SC"/>
                <a:sym typeface="Noto Sans SC"/>
              </a:rPr>
              <a:t>Input:</a:t>
            </a:r>
            <a:r>
              <a:rPr lang="en-US" b="false" i="false" strike="noStrike" u="none" sz="1300">
                <a:solidFill>
                  <a:srgbClr val="374151"/>
                </a:solidFill>
                <a:latin typeface="Noto Sans SC"/>
                <a:ea typeface="Noto Sans SC"/>
                <a:cs typeface="Noto Sans SC"/>
                <a:sym typeface="Noto Sans SC"/>
              </a:rPr>
              <a:t>Age, position, skills, etc.</a:t>
            </a:r>
            <a:r>
              <a:rPr lang="en-US" b="false" i="false" strike="noStrike" u="none" sz="1300">
                <a:solidFill>
                  <a:srgbClr val="374151"/>
                </a:solidFill>
                <a:latin typeface="Noto Sans SC"/>
                <a:ea typeface="Noto Sans SC"/>
                <a:cs typeface="Noto Sans SC"/>
                <a:sym typeface="Noto Sans SC"/>
              </a:rPr>
              <a:t/>
            </a:r>
            <a:br>
              <a:rPr lang="en-US" b="false" i="false" strike="noStrike" u="none" sz="1300">
                <a:solidFill>
                  <a:srgbClr val="374151"/>
                </a:solidFill>
                <a:latin typeface="Noto Sans SC"/>
                <a:ea typeface="Noto Sans SC"/>
                <a:cs typeface="Noto Sans SC"/>
                <a:sym typeface="Noto Sans SC"/>
              </a:rPr>
            </a:br>
            <a:r>
              <a:rPr lang="en-US" b="true" i="false" strike="noStrike" u="none" sz="1300">
                <a:solidFill>
                  <a:srgbClr val="374151"/>
                </a:solidFill>
                <a:latin typeface="Noto Sans SC"/>
                <a:ea typeface="Noto Sans SC"/>
                <a:cs typeface="Noto Sans SC"/>
                <a:sym typeface="Noto Sans SC"/>
              </a:rPr>
              <a:t>Output:</a:t>
            </a:r>
            <a:r>
              <a:rPr lang="en-US" b="false" i="false" strike="noStrike" u="none" sz="1300">
                <a:solidFill>
                  <a:srgbClr val="374151"/>
                </a:solidFill>
                <a:latin typeface="Noto Sans SC"/>
                <a:ea typeface="Noto Sans SC"/>
                <a:cs typeface="Noto Sans SC"/>
                <a:sym typeface="Noto Sans SC"/>
              </a:rPr>
              <a:t>Market value / Overall score</a:t>
            </a:r>
            <a:endParaRPr lang="en-US" sz="1100"/>
          </a:p>
        </p:txBody>
      </p:sp>
      <p:cxnSp>
        <p:nvCxnSpPr>
          <p:cNvPr name="Connector 15" id="15"/>
          <p:cNvCxnSpPr/>
          <p:nvPr/>
        </p:nvCxnSpPr>
        <p:spPr>
          <a:xfrm rot="-9046" flipH="false" flipV="false">
            <a:off x="6413508" y="4375150"/>
            <a:ext cx="4826000" cy="12700"/>
          </a:xfrm>
          <a:prstGeom prst="straightConnector1">
            <a:avLst/>
          </a:prstGeom>
          <a:solidFill>
            <a:srgbClr val="DEE0E3">
              <a:alpha val="100000"/>
            </a:srgbClr>
          </a:solidFill>
          <a:ln w="12700" cmpd="sng" cap="flat">
            <a:solidFill>
              <a:srgbClr val="22D3EE">
                <a:alpha val="25000"/>
              </a:srgbClr>
            </a:solidFill>
            <a:prstDash val="dash"/>
            <a:round/>
            <a:headEnd type="none" w="med" len="med"/>
            <a:tailEnd type="none" w="med" len="med"/>
          </a:ln>
        </p:spPr>
      </p:cxnSp>
      <p:sp>
        <p:nvSpPr>
          <p:cNvPr name="AutoShape 16" id="16"/>
          <p:cNvSpPr/>
          <p:nvPr/>
        </p:nvSpPr>
        <p:spPr>
          <a:xfrm rot="0" flipH="false" flipV="false">
            <a:off x="6413500" y="4572000"/>
            <a:ext cx="4826000" cy="1397000"/>
          </a:xfrm>
          <a:prstGeom prst="roundRect">
            <a:avLst>
              <a:gd name="adj" fmla="val 0"/>
            </a:avLst>
          </a:prstGeom>
          <a:solidFill>
            <a:srgbClr val="22D3EE">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540500" y="4699000"/>
            <a:ext cx="4572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0D9488"/>
                </a:solidFill>
                <a:latin typeface="Noto Sans SC"/>
                <a:ea typeface="Noto Sans SC"/>
                <a:cs typeface="Noto Sans SC"/>
                <a:sym typeface="Noto Sans SC"/>
              </a:rPr>
              <a:t>Task Type: Regression &amp; Ranking</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Map player attributes to a continuous score (regression) or determine player potential (ranking). This shows AI's application in sports analytics and value prediction.</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Dataset Tour 3: Autonomous Driving</a:t>
            </a:r>
            <a:endParaRPr lang="en-US" sz="1100"/>
          </a:p>
        </p:txBody>
      </p:sp>
      <p:pic>
        <p:nvPicPr>
          <p:cNvPr name="Picture 4" id="4"/>
          <p:cNvPicPr>
            <a:picLocks noChangeAspect="true"/>
          </p:cNvPicPr>
          <p:nvPr/>
        </p:nvPicPr>
        <p:blipFill>
          <a:blip r:embed="rId3"/>
          <a:srcRect l="2878" r="2878" t="0" b="0"/>
          <a:stretch>
            <a:fillRect/>
          </a:stretch>
        </p:blipFill>
        <p:spPr>
          <a:xfrm rot="0" flipH="false" flipV="false">
            <a:off x="762000" y="1778000"/>
            <a:ext cx="5080000" cy="2794000"/>
          </a:xfrm>
          <a:prstGeom prst="roundRect">
            <a:avLst>
              <a:gd name="adj" fmla="val 5454"/>
            </a:avLst>
          </a:prstGeom>
          <a:noFill/>
          <a:ln w="25400" cmpd="sng" cap="flat">
            <a:solidFill>
              <a:srgbClr val="22D3EE">
                <a:alpha val="40000"/>
              </a:srgbClr>
            </a:solidFill>
            <a:prstDash val="solid"/>
            <a:round/>
          </a:ln>
          <a:effectLst>
            <a:outerShdw dir="2700000" dist="76200" blurRad="203200" algn="tl" rotWithShape="false">
              <a:srgbClr val="000000">
                <a:alpha val="12000"/>
              </a:srgbClr>
            </a:outerShdw>
          </a:effectLst>
        </p:spPr>
      </p:pic>
      <p:sp>
        <p:nvSpPr>
          <p:cNvPr name="AutoShape 5" id="5"/>
          <p:cNvSpPr/>
          <p:nvPr/>
        </p:nvSpPr>
        <p:spPr>
          <a:xfrm rot="0" flipH="false" flipV="false">
            <a:off x="762000" y="4826000"/>
            <a:ext cx="508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4B5563"/>
                </a:solidFill>
                <a:latin typeface="微软雅黑"/>
                <a:ea typeface="微软雅黑"/>
                <a:cs typeface="微软雅黑"/>
                <a:sym typeface="微软雅黑"/>
              </a:rPr>
              <a:t>This dataset provides a first-person view of driving scenarios, complete with AI-generated bounding boxes that label critical road elements like vehicles and pedestrians.</a:t>
            </a:r>
            <a:endParaRPr lang="en-US" sz="1100"/>
          </a:p>
        </p:txBody>
      </p:sp>
      <p:sp>
        <p:nvSpPr>
          <p:cNvPr name="AutoShape 6" id="6"/>
          <p:cNvSpPr/>
          <p:nvPr/>
        </p:nvSpPr>
        <p:spPr>
          <a:xfrm rot="0" flipH="false" flipV="false">
            <a:off x="6223000" y="1778000"/>
            <a:ext cx="5334000" cy="990600"/>
          </a:xfrm>
          <a:prstGeom prst="roundRect">
            <a:avLst>
              <a:gd name="adj" fmla="val 0"/>
            </a:avLst>
          </a:prstGeom>
          <a:solidFill>
            <a:srgbClr val="22D3EE">
              <a:alpha val="8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51600" y="1968500"/>
            <a:ext cx="330200" cy="330200"/>
          </a:xfrm>
          <a:prstGeom prst="rect">
            <a:avLst/>
          </a:prstGeom>
        </p:spPr>
      </p:pic>
      <p:sp>
        <p:nvSpPr>
          <p:cNvPr name="AutoShape 8" id="8"/>
          <p:cNvSpPr/>
          <p:nvPr/>
        </p:nvSpPr>
        <p:spPr>
          <a:xfrm rot="0" flipH="false" flipV="false">
            <a:off x="6921500" y="1930400"/>
            <a:ext cx="457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Data Repository</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25000"/>
              </a:lnSpc>
            </a:pPr>
            <a:r>
              <a:rPr lang="en-US" b="false" i="false" strike="noStrike" u="none" sz="1300">
                <a:solidFill>
                  <a:srgbClr val="4B5563"/>
                </a:solidFill>
                <a:latin typeface="微软雅黑"/>
                <a:ea typeface="微软雅黑"/>
                <a:cs typeface="微软雅黑"/>
                <a:sym typeface="微软雅黑"/>
              </a:rPr>
              <a:t>Source: prateekkarkera/self-driving-cars (Open Source)</a:t>
            </a:r>
          </a:p>
        </p:txBody>
      </p:sp>
      <p:sp>
        <p:nvSpPr>
          <p:cNvPr name="AutoShape 9" id="9"/>
          <p:cNvSpPr/>
          <p:nvPr/>
        </p:nvSpPr>
        <p:spPr>
          <a:xfrm rot="0" flipH="false" flipV="false">
            <a:off x="6223000" y="2895600"/>
            <a:ext cx="5334000" cy="990600"/>
          </a:xfrm>
          <a:prstGeom prst="roundRect">
            <a:avLst>
              <a:gd name="adj" fmla="val 0"/>
            </a:avLst>
          </a:prstGeom>
          <a:solidFill>
            <a:srgbClr val="22D3EE">
              <a:alpha val="8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51600" y="3086100"/>
            <a:ext cx="330200" cy="330200"/>
          </a:xfrm>
          <a:prstGeom prst="rect">
            <a:avLst/>
          </a:prstGeom>
        </p:spPr>
      </p:pic>
      <p:sp>
        <p:nvSpPr>
          <p:cNvPr name="AutoShape 11" id="11"/>
          <p:cNvSpPr/>
          <p:nvPr/>
        </p:nvSpPr>
        <p:spPr>
          <a:xfrm rot="0" flipH="false" flipV="false">
            <a:off x="6921500" y="3048000"/>
            <a:ext cx="457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Input / Output Schema</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25000"/>
              </a:lnSpc>
            </a:pPr>
            <a:r>
              <a:rPr lang="en-US" b="false" i="false" strike="noStrike" u="none" sz="1300">
                <a:solidFill>
                  <a:srgbClr val="4B5563"/>
                </a:solidFill>
                <a:latin typeface="微软雅黑"/>
                <a:ea typeface="微软雅黑"/>
                <a:cs typeface="微软雅黑"/>
                <a:sym typeface="微软雅黑"/>
              </a:rPr>
              <a:t>Input: RGB camera frames | Output: Annotated bounding boxes (class &amp; coordinates)</a:t>
            </a:r>
          </a:p>
        </p:txBody>
      </p:sp>
      <p:sp>
        <p:nvSpPr>
          <p:cNvPr name="AutoShape 12" id="12"/>
          <p:cNvSpPr/>
          <p:nvPr/>
        </p:nvSpPr>
        <p:spPr>
          <a:xfrm rot="0" flipH="false" flipV="false">
            <a:off x="6223000" y="4013200"/>
            <a:ext cx="5334000" cy="990600"/>
          </a:xfrm>
          <a:prstGeom prst="roundRect">
            <a:avLst>
              <a:gd name="adj" fmla="val 0"/>
            </a:avLst>
          </a:prstGeom>
          <a:solidFill>
            <a:srgbClr val="22D3EE">
              <a:alpha val="8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51600" y="4203700"/>
            <a:ext cx="330200" cy="330200"/>
          </a:xfrm>
          <a:prstGeom prst="rect">
            <a:avLst/>
          </a:prstGeom>
        </p:spPr>
      </p:pic>
      <p:sp>
        <p:nvSpPr>
          <p:cNvPr name="AutoShape 14" id="14"/>
          <p:cNvSpPr/>
          <p:nvPr/>
        </p:nvSpPr>
        <p:spPr>
          <a:xfrm rot="0" flipH="false" flipV="false">
            <a:off x="6921500" y="4165600"/>
            <a:ext cx="457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Core AI Task</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25000"/>
              </a:lnSpc>
            </a:pPr>
            <a:r>
              <a:rPr lang="en-US" b="false" i="false" strike="noStrike" u="none" sz="1300">
                <a:solidFill>
                  <a:srgbClr val="4B5563"/>
                </a:solidFill>
                <a:latin typeface="微软雅黑"/>
                <a:ea typeface="微软雅黑"/>
                <a:cs typeface="微软雅黑"/>
                <a:sym typeface="微软雅黑"/>
              </a:rPr>
              <a:t>2D Object Detection: Simultaneously classify and localize multiple objects.</a:t>
            </a:r>
          </a:p>
        </p:txBody>
      </p:sp>
      <p:sp>
        <p:nvSpPr>
          <p:cNvPr name="AutoShape 15" id="15"/>
          <p:cNvSpPr/>
          <p:nvPr/>
        </p:nvSpPr>
        <p:spPr>
          <a:xfrm rot="0" flipH="false" flipV="false">
            <a:off x="6223000" y="5130800"/>
            <a:ext cx="5334000" cy="990600"/>
          </a:xfrm>
          <a:prstGeom prst="roundRect">
            <a:avLst>
              <a:gd name="adj" fmla="val 0"/>
            </a:avLst>
          </a:prstGeom>
          <a:solidFill>
            <a:srgbClr val="22D3EE">
              <a:alpha val="8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51600" y="5321300"/>
            <a:ext cx="330200" cy="330200"/>
          </a:xfrm>
          <a:prstGeom prst="rect">
            <a:avLst/>
          </a:prstGeom>
        </p:spPr>
      </p:pic>
      <p:sp>
        <p:nvSpPr>
          <p:cNvPr name="AutoShape 17" id="17"/>
          <p:cNvSpPr/>
          <p:nvPr/>
        </p:nvSpPr>
        <p:spPr>
          <a:xfrm rot="0" flipH="false" flipV="false">
            <a:off x="6921500" y="5283200"/>
            <a:ext cx="457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微软雅黑"/>
                <a:ea typeface="微软雅黑"/>
                <a:cs typeface="微软雅黑"/>
                <a:sym typeface="微软雅黑"/>
              </a:rPr>
              <a:t>Learning Objective</a:t>
            </a:r>
            <a:r>
              <a:rPr lang="en-US" b="false" i="false" strike="noStrike" u="none" sz="1600">
                <a:solidFill>
                  <a:srgbClr val="1F2329"/>
                </a:solidFill>
                <a:latin typeface="微软雅黑"/>
                <a:ea typeface="微软雅黑"/>
                <a:cs typeface="微软雅黑"/>
                <a:sym typeface="微软雅黑"/>
              </a:rPr>
              <a:t/>
            </a:r>
            <a:endParaRPr lang="en-US" sz="1100"/>
          </a:p>
          <a:p>
            <a:pPr algn="l" marL="0" indent="0">
              <a:lnSpc>
                <a:spcPct val="125000"/>
              </a:lnSpc>
            </a:pPr>
            <a:r>
              <a:rPr lang="en-US" b="false" i="false" strike="noStrike" u="none" sz="1300">
                <a:solidFill>
                  <a:srgbClr val="4B5563"/>
                </a:solidFill>
                <a:latin typeface="微软雅黑"/>
                <a:ea typeface="微软雅黑"/>
                <a:cs typeface="微软雅黑"/>
                <a:sym typeface="微软雅黑"/>
              </a:rPr>
              <a:t>The primary dataset for our end-to-end AV Perception case study in this course.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What We Learned from the Datasets</a:t>
            </a:r>
            <a:endParaRPr lang="en-US" sz="1100"/>
          </a:p>
        </p:txBody>
      </p:sp>
      <p:sp>
        <p:nvSpPr>
          <p:cNvPr name="AutoShape 4" id="4"/>
          <p:cNvSpPr/>
          <p:nvPr/>
        </p:nvSpPr>
        <p:spPr>
          <a:xfrm rot="0" flipH="false" flipV="false">
            <a:off x="762000" y="17145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151">
                    <a:alpha val="85098"/>
                  </a:srgbClr>
                </a:solidFill>
                <a:latin typeface="微软雅黑"/>
                <a:ea typeface="微软雅黑"/>
                <a:cs typeface="微软雅黑"/>
                <a:sym typeface="微软雅黑"/>
              </a:rPr>
              <a:t>AI’s potential spans nearly every domain, but every impactful project begins with answering three foundational questions that shape its direction, data needs, and ultimate value.</a:t>
            </a:r>
            <a:endParaRPr lang="en-US" sz="1100"/>
          </a:p>
        </p:txBody>
      </p:sp>
      <p:sp>
        <p:nvSpPr>
          <p:cNvPr name="AutoShape 5" id="5"/>
          <p:cNvSpPr/>
          <p:nvPr/>
        </p:nvSpPr>
        <p:spPr>
          <a:xfrm rot="0" flipH="false" flipV="false">
            <a:off x="762000" y="2794000"/>
            <a:ext cx="3378200" cy="2349500"/>
          </a:xfrm>
          <a:prstGeom prst="roundRect">
            <a:avLst>
              <a:gd name="adj" fmla="val 0"/>
            </a:avLst>
          </a:prstGeom>
          <a:solidFill>
            <a:srgbClr val="22D3EE">
              <a:alpha val="1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048000"/>
            <a:ext cx="355600" cy="355600"/>
          </a:xfrm>
          <a:prstGeom prst="rect">
            <a:avLst/>
          </a:prstGeom>
        </p:spPr>
      </p:pic>
      <p:sp>
        <p:nvSpPr>
          <p:cNvPr name="AutoShape 7" id="7"/>
          <p:cNvSpPr/>
          <p:nvPr/>
        </p:nvSpPr>
        <p:spPr>
          <a:xfrm rot="0" flipH="false" flipV="false">
            <a:off x="1460500" y="3048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01. What is the Input?</a:t>
            </a:r>
            <a:endParaRPr lang="en-US" sz="1100"/>
          </a:p>
        </p:txBody>
      </p:sp>
      <p:sp>
        <p:nvSpPr>
          <p:cNvPr name="AutoShape 8" id="8"/>
          <p:cNvSpPr/>
          <p:nvPr/>
        </p:nvSpPr>
        <p:spPr>
          <a:xfrm rot="0" flipH="false" flipV="false">
            <a:off x="1016000" y="3619500"/>
            <a:ext cx="28702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微软雅黑"/>
                <a:ea typeface="微软雅黑"/>
                <a:cs typeface="微软雅黑"/>
                <a:sym typeface="微软雅黑"/>
              </a:rPr>
              <a:t>Identify the raw data fueling the model—whether it’s visual images, sensor readings, financial transactions, or unstructured text that forms the bedrock of your AI system.</a:t>
            </a:r>
            <a:endParaRPr lang="en-US" sz="1100"/>
          </a:p>
        </p:txBody>
      </p:sp>
      <p:sp>
        <p:nvSpPr>
          <p:cNvPr name="AutoShape 9" id="9"/>
          <p:cNvSpPr/>
          <p:nvPr/>
        </p:nvSpPr>
        <p:spPr>
          <a:xfrm rot="0" flipH="false" flipV="false">
            <a:off x="4406900" y="2794000"/>
            <a:ext cx="3378200" cy="2349500"/>
          </a:xfrm>
          <a:prstGeom prst="roundRect">
            <a:avLst>
              <a:gd name="adj" fmla="val 0"/>
            </a:avLst>
          </a:prstGeom>
          <a:solidFill>
            <a:srgbClr val="22D3EE">
              <a:alpha val="1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3048000"/>
            <a:ext cx="355600" cy="355600"/>
          </a:xfrm>
          <a:prstGeom prst="rect">
            <a:avLst/>
          </a:prstGeom>
        </p:spPr>
      </p:pic>
      <p:sp>
        <p:nvSpPr>
          <p:cNvPr name="AutoShape 11" id="11"/>
          <p:cNvSpPr/>
          <p:nvPr/>
        </p:nvSpPr>
        <p:spPr>
          <a:xfrm rot="0" flipH="false" flipV="false">
            <a:off x="5105400" y="3048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02. What is the Output?</a:t>
            </a:r>
            <a:endParaRPr lang="en-US" sz="1100"/>
          </a:p>
        </p:txBody>
      </p:sp>
      <p:sp>
        <p:nvSpPr>
          <p:cNvPr name="AutoShape 12" id="12"/>
          <p:cNvSpPr/>
          <p:nvPr/>
        </p:nvSpPr>
        <p:spPr>
          <a:xfrm rot="0" flipH="false" flipV="false">
            <a:off x="4660900" y="3619500"/>
            <a:ext cx="28702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微软雅黑"/>
                <a:ea typeface="微软雅黑"/>
                <a:cs typeface="微软雅黑"/>
                <a:sym typeface="微软雅黑"/>
              </a:rPr>
              <a:t>Define the intended result: a classification label, a precise numerical prediction, a bounding box for object detection, or a coherent generated text/response.</a:t>
            </a:r>
            <a:endParaRPr lang="en-US" sz="1100"/>
          </a:p>
        </p:txBody>
      </p:sp>
      <p:sp>
        <p:nvSpPr>
          <p:cNvPr name="AutoShape 13" id="13"/>
          <p:cNvSpPr/>
          <p:nvPr/>
        </p:nvSpPr>
        <p:spPr>
          <a:xfrm rot="0" flipH="false" flipV="false">
            <a:off x="8051800" y="2794000"/>
            <a:ext cx="3378200" cy="2349500"/>
          </a:xfrm>
          <a:prstGeom prst="roundRect">
            <a:avLst>
              <a:gd name="adj" fmla="val 0"/>
            </a:avLst>
          </a:prstGeom>
          <a:solidFill>
            <a:srgbClr val="22D3EE">
              <a:alpha val="1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3048000"/>
            <a:ext cx="355600" cy="355600"/>
          </a:xfrm>
          <a:prstGeom prst="rect">
            <a:avLst/>
          </a:prstGeom>
        </p:spPr>
      </p:pic>
      <p:sp>
        <p:nvSpPr>
          <p:cNvPr name="AutoShape 15" id="15"/>
          <p:cNvSpPr/>
          <p:nvPr/>
        </p:nvSpPr>
        <p:spPr>
          <a:xfrm rot="0" flipH="false" flipV="false">
            <a:off x="8750300" y="3048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03. What Defines Success?</a:t>
            </a:r>
            <a:endParaRPr lang="en-US" sz="1100"/>
          </a:p>
        </p:txBody>
      </p:sp>
      <p:sp>
        <p:nvSpPr>
          <p:cNvPr name="AutoShape 16" id="16"/>
          <p:cNvSpPr/>
          <p:nvPr/>
        </p:nvSpPr>
        <p:spPr>
          <a:xfrm rot="0" flipH="false" flipV="false">
            <a:off x="8305800" y="3619500"/>
            <a:ext cx="28702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微软雅黑"/>
                <a:ea typeface="微软雅黑"/>
                <a:cs typeface="微软雅黑"/>
                <a:sym typeface="微软雅黑"/>
              </a:rPr>
              <a:t>Set measurable KPIs to gauge performance—such as 95% classification accuracy, a 40% reduction in fraud losses, or a 20% boost in predictive lead quality.</a:t>
            </a:r>
            <a:endParaRPr lang="en-US" sz="1100"/>
          </a:p>
        </p:txBody>
      </p:sp>
      <p:sp>
        <p:nvSpPr>
          <p:cNvPr name="AutoShape 17" id="17"/>
          <p:cNvSpPr/>
          <p:nvPr/>
        </p:nvSpPr>
        <p:spPr>
          <a:xfrm rot="0" flipH="false" flipV="false">
            <a:off x="762000" y="5461000"/>
            <a:ext cx="10668000" cy="889000"/>
          </a:xfrm>
          <a:prstGeom prst="roundRect">
            <a:avLst>
              <a:gd name="adj" fmla="val 0"/>
            </a:avLst>
          </a:prstGeom>
          <a:solidFill>
            <a:srgbClr val="1F2937">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5613400"/>
            <a:ext cx="1028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1F2937">
                    <a:alpha val="90196"/>
                  </a:srgbClr>
                </a:solidFill>
                <a:latin typeface="微软雅黑"/>
                <a:ea typeface="微软雅黑"/>
                <a:cs typeface="微软雅黑"/>
                <a:sym typeface="微软雅黑"/>
              </a:rPr>
              <a:t>Once these questions are answered, you can align your data strategy, select the optimal model architecture, and build an AI solution that delivers clear, actionable value.</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AI as a Research Instrument</a:t>
            </a:r>
            <a:endParaRPr lang="en-US" sz="1100"/>
          </a:p>
        </p:txBody>
      </p:sp>
      <p:sp>
        <p:nvSpPr>
          <p:cNvPr name="AutoShape 4" id="4"/>
          <p:cNvSpPr/>
          <p:nvPr/>
        </p:nvSpPr>
        <p:spPr>
          <a:xfrm rot="0" flipH="false" flipV="false">
            <a:off x="762000" y="16510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2D3EE"/>
                </a:solidFill>
                <a:latin typeface="微软雅黑"/>
                <a:ea typeface="微软雅黑"/>
                <a:cs typeface="微软雅黑"/>
                <a:sym typeface="微软雅黑"/>
              </a:rPr>
              <a:t>THE MOST IMPORTANT IDEA IN THIS CHAPTER</a:t>
            </a:r>
            <a:endParaRPr lang="en-US" sz="1100"/>
          </a:p>
        </p:txBody>
      </p:sp>
      <p:sp>
        <p:nvSpPr>
          <p:cNvPr name="AutoShape 5" id="5"/>
          <p:cNvSpPr/>
          <p:nvPr/>
        </p:nvSpPr>
        <p:spPr>
          <a:xfrm rot="0" flipH="false" flipV="false">
            <a:off x="762000" y="2159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200">
                <a:solidFill>
                  <a:srgbClr val="1F2937"/>
                </a:solidFill>
                <a:latin typeface="微软雅黑"/>
                <a:ea typeface="微软雅黑"/>
                <a:cs typeface="微软雅黑"/>
                <a:sym typeface="微软雅黑"/>
              </a:rPr>
              <a:t>“AI is not just a subject to study — it is a tool to study with.”</a:t>
            </a:r>
            <a:endParaRPr lang="en-US" sz="1100"/>
          </a:p>
        </p:txBody>
      </p:sp>
      <p:sp>
        <p:nvSpPr>
          <p:cNvPr name="AutoShape 6" id="6"/>
          <p:cNvSpPr/>
          <p:nvPr/>
        </p:nvSpPr>
        <p:spPr>
          <a:xfrm rot="0" flipH="false" flipV="false">
            <a:off x="762000" y="3048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4B5563"/>
                </a:solidFill>
                <a:latin typeface="微软雅黑"/>
                <a:ea typeface="微软雅黑"/>
                <a:cs typeface="微软雅黑"/>
                <a:sym typeface="微软雅黑"/>
              </a:rPr>
              <a:t>Just as scientists once harnessed microscopes and telescopes to expand human knowledge, today’s researchers use AI models, curated datasets, and computational experiments as their new lenses of discovery, opening up frontiers across every academic and scientific discipline.</a:t>
            </a:r>
            <a:endParaRPr lang="en-US" sz="1100"/>
          </a:p>
        </p:txBody>
      </p:sp>
      <p:sp>
        <p:nvSpPr>
          <p:cNvPr name="AutoShape 7" id="7"/>
          <p:cNvSpPr/>
          <p:nvPr/>
        </p:nvSpPr>
        <p:spPr>
          <a:xfrm rot="0" flipH="false" flipV="false">
            <a:off x="762000" y="4064000"/>
            <a:ext cx="2540000" cy="1397000"/>
          </a:xfrm>
          <a:prstGeom prst="roundRect">
            <a:avLst>
              <a:gd name="adj" fmla="val 0"/>
            </a:avLst>
          </a:prstGeom>
          <a:solidFill>
            <a:srgbClr val="FFFFFF">
              <a:alpha val="5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4254500"/>
            <a:ext cx="304800" cy="304800"/>
          </a:xfrm>
          <a:prstGeom prst="rect">
            <a:avLst/>
          </a:prstGeom>
        </p:spPr>
      </p:pic>
      <p:sp>
        <p:nvSpPr>
          <p:cNvPr name="AutoShape 9" id="9"/>
          <p:cNvSpPr/>
          <p:nvPr/>
        </p:nvSpPr>
        <p:spPr>
          <a:xfrm rot="0" flipH="false" flipV="false">
            <a:off x="1333500" y="42545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微软雅黑"/>
                <a:ea typeface="微软雅黑"/>
                <a:cs typeface="微软雅黑"/>
                <a:sym typeface="微软雅黑"/>
              </a:rPr>
              <a:t>Formulate Questions</a:t>
            </a:r>
            <a:endParaRPr lang="en-US" sz="1100"/>
          </a:p>
        </p:txBody>
      </p:sp>
      <p:sp>
        <p:nvSpPr>
          <p:cNvPr name="AutoShape 10" id="10"/>
          <p:cNvSpPr/>
          <p:nvPr/>
        </p:nvSpPr>
        <p:spPr>
          <a:xfrm rot="0" flipH="false" flipV="false">
            <a:off x="952500" y="4635500"/>
            <a:ext cx="2159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微软雅黑"/>
                <a:ea typeface="微软雅黑"/>
                <a:cs typeface="微软雅黑"/>
                <a:sym typeface="微软雅黑"/>
              </a:rPr>
              <a:t>Craft clear, testable research inquiries that align with AI’s analytical strengths.</a:t>
            </a:r>
            <a:endParaRPr lang="en-US" sz="1100"/>
          </a:p>
        </p:txBody>
      </p:sp>
      <p:sp>
        <p:nvSpPr>
          <p:cNvPr name="AutoShape 11" id="11"/>
          <p:cNvSpPr/>
          <p:nvPr/>
        </p:nvSpPr>
        <p:spPr>
          <a:xfrm rot="0" flipH="false" flipV="false">
            <a:off x="3467100" y="4064000"/>
            <a:ext cx="2540000" cy="1397000"/>
          </a:xfrm>
          <a:prstGeom prst="roundRect">
            <a:avLst>
              <a:gd name="adj" fmla="val 0"/>
            </a:avLst>
          </a:prstGeom>
          <a:solidFill>
            <a:srgbClr val="FFFFFF">
              <a:alpha val="5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57600" y="4254500"/>
            <a:ext cx="304800" cy="304800"/>
          </a:xfrm>
          <a:prstGeom prst="rect">
            <a:avLst/>
          </a:prstGeom>
        </p:spPr>
      </p:pic>
      <p:sp>
        <p:nvSpPr>
          <p:cNvPr name="AutoShape 13" id="13"/>
          <p:cNvSpPr/>
          <p:nvPr/>
        </p:nvSpPr>
        <p:spPr>
          <a:xfrm rot="0" flipH="false" flipV="false">
            <a:off x="4038600" y="42545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微软雅黑"/>
                <a:ea typeface="微软雅黑"/>
                <a:cs typeface="微软雅黑"/>
                <a:sym typeface="微软雅黑"/>
              </a:rPr>
              <a:t>Curate Data</a:t>
            </a:r>
            <a:endParaRPr lang="en-US" sz="1100"/>
          </a:p>
        </p:txBody>
      </p:sp>
      <p:sp>
        <p:nvSpPr>
          <p:cNvPr name="AutoShape 14" id="14"/>
          <p:cNvSpPr/>
          <p:nvPr/>
        </p:nvSpPr>
        <p:spPr>
          <a:xfrm rot="0" flipH="false" flipV="false">
            <a:off x="3657600" y="4635500"/>
            <a:ext cx="2159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微软雅黑"/>
                <a:ea typeface="微软雅黑"/>
                <a:cs typeface="微软雅黑"/>
                <a:sym typeface="微软雅黑"/>
              </a:rPr>
              <a:t>Source, clean, or build high-quality datasets that are fit for your specific research hypothesis.</a:t>
            </a:r>
            <a:endParaRPr lang="en-US" sz="1100"/>
          </a:p>
        </p:txBody>
      </p:sp>
      <p:sp>
        <p:nvSpPr>
          <p:cNvPr name="AutoShape 15" id="15"/>
          <p:cNvSpPr/>
          <p:nvPr/>
        </p:nvSpPr>
        <p:spPr>
          <a:xfrm rot="0" flipH="false" flipV="false">
            <a:off x="6172200" y="4064000"/>
            <a:ext cx="2540000" cy="1397000"/>
          </a:xfrm>
          <a:prstGeom prst="roundRect">
            <a:avLst>
              <a:gd name="adj" fmla="val 0"/>
            </a:avLst>
          </a:prstGeom>
          <a:solidFill>
            <a:srgbClr val="FFFFFF">
              <a:alpha val="5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62700" y="4254500"/>
            <a:ext cx="304800" cy="304800"/>
          </a:xfrm>
          <a:prstGeom prst="rect">
            <a:avLst/>
          </a:prstGeom>
        </p:spPr>
      </p:pic>
      <p:sp>
        <p:nvSpPr>
          <p:cNvPr name="AutoShape 17" id="17"/>
          <p:cNvSpPr/>
          <p:nvPr/>
        </p:nvSpPr>
        <p:spPr>
          <a:xfrm rot="0" flipH="false" flipV="false">
            <a:off x="6743700" y="42545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微软雅黑"/>
                <a:ea typeface="微软雅黑"/>
                <a:cs typeface="微软雅黑"/>
                <a:sym typeface="微软雅黑"/>
              </a:rPr>
              <a:t>Apply Models</a:t>
            </a:r>
            <a:endParaRPr lang="en-US" sz="1100"/>
          </a:p>
        </p:txBody>
      </p:sp>
      <p:sp>
        <p:nvSpPr>
          <p:cNvPr name="AutoShape 18" id="18"/>
          <p:cNvSpPr/>
          <p:nvPr/>
        </p:nvSpPr>
        <p:spPr>
          <a:xfrm rot="0" flipH="false" flipV="false">
            <a:off x="6362700" y="4635500"/>
            <a:ext cx="2159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微软雅黑"/>
                <a:ea typeface="微软雅黑"/>
                <a:cs typeface="微软雅黑"/>
                <a:sym typeface="微软雅黑"/>
              </a:rPr>
              <a:t>Select and implement appropriate AI architectures to process data and generate insights.</a:t>
            </a:r>
            <a:endParaRPr lang="en-US" sz="1100"/>
          </a:p>
        </p:txBody>
      </p:sp>
      <p:sp>
        <p:nvSpPr>
          <p:cNvPr name="AutoShape 19" id="19"/>
          <p:cNvSpPr/>
          <p:nvPr/>
        </p:nvSpPr>
        <p:spPr>
          <a:xfrm rot="0" flipH="false" flipV="false">
            <a:off x="8890000" y="4064000"/>
            <a:ext cx="2540000" cy="1397000"/>
          </a:xfrm>
          <a:prstGeom prst="roundRect">
            <a:avLst>
              <a:gd name="adj" fmla="val 0"/>
            </a:avLst>
          </a:prstGeom>
          <a:solidFill>
            <a:srgbClr val="FFFFFF">
              <a:alpha val="5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080500" y="4254500"/>
            <a:ext cx="304800" cy="304800"/>
          </a:xfrm>
          <a:prstGeom prst="rect">
            <a:avLst/>
          </a:prstGeom>
        </p:spPr>
      </p:pic>
      <p:sp>
        <p:nvSpPr>
          <p:cNvPr name="AutoShape 21" id="21"/>
          <p:cNvSpPr/>
          <p:nvPr/>
        </p:nvSpPr>
        <p:spPr>
          <a:xfrm rot="0" flipH="false" flipV="false">
            <a:off x="9461500" y="42545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微软雅黑"/>
                <a:ea typeface="微软雅黑"/>
                <a:cs typeface="微软雅黑"/>
                <a:sym typeface="微软雅黑"/>
              </a:rPr>
              <a:t>Interpret Results</a:t>
            </a:r>
            <a:endParaRPr lang="en-US" sz="1100"/>
          </a:p>
        </p:txBody>
      </p:sp>
      <p:sp>
        <p:nvSpPr>
          <p:cNvPr name="AutoShape 22" id="22"/>
          <p:cNvSpPr/>
          <p:nvPr/>
        </p:nvSpPr>
        <p:spPr>
          <a:xfrm rot="0" flipH="false" flipV="false">
            <a:off x="9080500" y="4635500"/>
            <a:ext cx="2159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6B7280"/>
                </a:solidFill>
                <a:latin typeface="微软雅黑"/>
                <a:ea typeface="微软雅黑"/>
                <a:cs typeface="微软雅黑"/>
                <a:sym typeface="微软雅黑"/>
              </a:rPr>
              <a:t>Analyze outputs critically, assess validity, and account for potential biases.</a:t>
            </a:r>
            <a:endParaRPr lang="en-US" sz="1100"/>
          </a:p>
        </p:txBody>
      </p:sp>
      <p:sp>
        <p:nvSpPr>
          <p:cNvPr name="AutoShape 23" id="23"/>
          <p:cNvSpPr/>
          <p:nvPr/>
        </p:nvSpPr>
        <p:spPr>
          <a:xfrm rot="0" flipH="false" flipV="false">
            <a:off x="762000" y="5651500"/>
            <a:ext cx="10668000" cy="698500"/>
          </a:xfrm>
          <a:prstGeom prst="roundRect">
            <a:avLst>
              <a:gd name="adj" fmla="val 0"/>
            </a:avLst>
          </a:prstGeom>
          <a:solidFill>
            <a:srgbClr val="22D3EE">
              <a:alpha val="10000"/>
            </a:srgbClr>
          </a:solidFill>
          <a:ln cmpd="sng" cap="flat">
            <a:solidFill>
              <a:srgbClr val="09BAD4">
                <a:alpha val="1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62000" y="5651500"/>
            <a:ext cx="76200" cy="6985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1016000" y="5651500"/>
            <a:ext cx="10287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151"/>
                </a:solidFill>
                <a:latin typeface="微软雅黑"/>
                <a:ea typeface="微软雅黑"/>
                <a:cs typeface="微软雅黑"/>
                <a:sym typeface="微软雅黑"/>
              </a:rPr>
              <a:t>Goal:</a:t>
            </a:r>
            <a:r>
              <a:rPr lang="en-US" b="false" i="false" strike="noStrike" u="none" sz="1400">
                <a:solidFill>
                  <a:srgbClr val="374151"/>
                </a:solidFill>
                <a:latin typeface="微软雅黑"/>
                <a:ea typeface="微软雅黑"/>
                <a:cs typeface="微软雅黑"/>
                <a:sym typeface="微软雅黑"/>
              </a:rPr>
              <a:t>Become a</a:t>
            </a:r>
            <a:r>
              <a:rPr lang="en-US" b="true" i="false" strike="noStrike" u="none" sz="1400">
                <a:solidFill>
                  <a:srgbClr val="374151"/>
                </a:solidFill>
                <a:latin typeface="微软雅黑"/>
                <a:ea typeface="微软雅黑"/>
                <a:cs typeface="微软雅黑"/>
                <a:sym typeface="微软雅黑"/>
              </a:rPr>
              <a:t>literate and capable AI researcher</a:t>
            </a:r>
            <a:r>
              <a:rPr lang="en-US" b="false" i="false" strike="noStrike" u="none" sz="1400">
                <a:solidFill>
                  <a:srgbClr val="374151"/>
                </a:solidFill>
                <a:latin typeface="微软雅黑"/>
                <a:ea typeface="微软雅黑"/>
                <a:cs typeface="微软雅黑"/>
                <a:sym typeface="微软雅黑"/>
              </a:rPr>
              <a:t>— you don’t need to build AI tools from scratch, but you do need to know how to use them effectively and ethically.</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Practice What You've Learned</a:t>
            </a:r>
            <a:endParaRPr lang="en-US" sz="1100"/>
          </a:p>
        </p:txBody>
      </p:sp>
      <p:sp>
        <p:nvSpPr>
          <p:cNvPr name="AutoShape 4" id="4"/>
          <p:cNvSpPr/>
          <p:nvPr/>
        </p:nvSpPr>
        <p:spPr>
          <a:xfrm rot="0" flipH="false" flipV="false">
            <a:off x="762000" y="2032000"/>
            <a:ext cx="3378200" cy="3556000"/>
          </a:xfrm>
          <a:prstGeom prst="roundRect">
            <a:avLst>
              <a:gd name="adj" fmla="val 0"/>
            </a:avLst>
          </a:prstGeom>
          <a:solidFill>
            <a:srgbClr val="FFFFFF">
              <a:alpha val="65000"/>
            </a:srgbClr>
          </a:solidFill>
          <a:ln w="12700" cmpd="sng" cap="flat">
            <a:solidFill>
              <a:srgbClr val="22D3EE">
                <a:alpha val="5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AI Application Map</a:t>
            </a:r>
            <a:endParaRPr lang="en-US" sz="1100"/>
          </a:p>
        </p:txBody>
      </p:sp>
      <p:sp>
        <p:nvSpPr>
          <p:cNvPr name="AutoShape 7" id="7"/>
          <p:cNvSpPr/>
          <p:nvPr/>
        </p:nvSpPr>
        <p:spPr>
          <a:xfrm rot="0" flipH="false" flipV="false">
            <a:off x="3251200" y="2362200"/>
            <a:ext cx="635000" cy="254000"/>
          </a:xfrm>
          <a:prstGeom prst="roundRect">
            <a:avLst>
              <a:gd name="adj" fmla="val 0"/>
            </a:avLst>
          </a:prstGeom>
          <a:solidFill>
            <a:srgbClr val="22D3EE">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3251200" y="2362200"/>
            <a:ext cx="635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0D9488"/>
                </a:solidFill>
                <a:latin typeface="微软雅黑"/>
                <a:ea typeface="微软雅黑"/>
                <a:cs typeface="微软雅黑"/>
                <a:sym typeface="微软雅黑"/>
              </a:rPr>
              <a:t>EASY</a:t>
            </a:r>
            <a:endParaRPr lang="en-US" sz="1100"/>
          </a:p>
        </p:txBody>
      </p:sp>
      <p:cxnSp>
        <p:nvCxnSpPr>
          <p:cNvPr name="Connector 9" id="9"/>
          <p:cNvCxnSpPr/>
          <p:nvPr/>
        </p:nvCxnSpPr>
        <p:spPr>
          <a:xfrm rot="-15211" flipH="false" flipV="false">
            <a:off x="1016014" y="2914650"/>
            <a:ext cx="2870200" cy="12700"/>
          </a:xfrm>
          <a:prstGeom prst="straightConnector1">
            <a:avLst/>
          </a:prstGeom>
          <a:solidFill>
            <a:srgbClr val="DEE0E3">
              <a:alpha val="100000"/>
            </a:srgbClr>
          </a:solidFill>
          <a:ln w="12700" cmpd="sng" cap="flat">
            <a:solidFill>
              <a:srgbClr val="22D3EE">
                <a:alpha val="30000"/>
              </a:srgbClr>
            </a:solidFill>
            <a:prstDash val="solid"/>
            <a:round/>
            <a:headEnd type="none" w="med" len="med"/>
            <a:tailEnd type="none" w="med" len="med"/>
          </a:ln>
        </p:spPr>
      </p:cxnSp>
      <p:sp>
        <p:nvSpPr>
          <p:cNvPr name="AutoShape 10" id="10"/>
          <p:cNvSpPr/>
          <p:nvPr/>
        </p:nvSpPr>
        <p:spPr>
          <a:xfrm rot="0" flipH="false" flipV="false">
            <a:off x="1016000" y="3111500"/>
            <a:ext cx="28702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微软雅黑"/>
                <a:ea typeface="微软雅黑"/>
                <a:cs typeface="微软雅黑"/>
                <a:sym typeface="微软雅黑"/>
              </a:rPr>
              <a:t>1. Choose a domain you’re passionate about (e.g., healthcare, education).</a:t>
            </a:r>
            <a:r>
              <a:rPr lang="en-US" b="false" i="false" strike="noStrike" u="none" sz="1400">
                <a:solidFill>
                  <a:srgbClr val="374151"/>
                </a:solidFill>
                <a:latin typeface="微软雅黑"/>
                <a:ea typeface="微软雅黑"/>
                <a:cs typeface="微软雅黑"/>
                <a:sym typeface="微软雅黑"/>
              </a:rPr>
              <a:t/>
            </a:r>
            <a:endParaRPr lang="en-US" sz="1100"/>
          </a:p>
          <a:p>
            <a:pPr algn="l" marL="0" indent="0">
              <a:lnSpc>
                <a:spcPct val="125000"/>
              </a:lnSpc>
            </a:pPr>
            <a:r>
              <a:rPr lang="en-US" b="false" i="false" strike="noStrike" u="none" sz="1400">
                <a:solidFill>
                  <a:srgbClr val="374151"/>
                </a:solidFill>
                <a:latin typeface="微软雅黑"/>
                <a:ea typeface="微软雅黑"/>
                <a:cs typeface="微软雅黑"/>
                <a:sym typeface="微软雅黑"/>
              </a:rPr>
              <a:t>2. Find 3 real-world AI applications within it.</a:t>
            </a:r>
            <a:r>
              <a:rPr lang="en-US" b="false" i="false" strike="noStrike" u="none" sz="1400">
                <a:solidFill>
                  <a:srgbClr val="374151"/>
                </a:solidFill>
                <a:latin typeface="微软雅黑"/>
                <a:ea typeface="微软雅黑"/>
                <a:cs typeface="微软雅黑"/>
                <a:sym typeface="微软雅黑"/>
              </a:rPr>
              <a:t/>
            </a:r>
          </a:p>
          <a:p>
            <a:pPr algn="l" marL="0" indent="0">
              <a:lnSpc>
                <a:spcPct val="125000"/>
              </a:lnSpc>
            </a:pPr>
            <a:r>
              <a:rPr lang="en-US" b="false" i="false" strike="noStrike" u="none" sz="1400">
                <a:solidFill>
                  <a:srgbClr val="374151"/>
                </a:solidFill>
                <a:latin typeface="微软雅黑"/>
                <a:ea typeface="微软雅黑"/>
                <a:cs typeface="微软雅黑"/>
                <a:sym typeface="微软雅黑"/>
              </a:rPr>
              <a:t>3. For each, define its input, output, and core value to society.</a:t>
            </a:r>
          </a:p>
        </p:txBody>
      </p:sp>
      <p:sp>
        <p:nvSpPr>
          <p:cNvPr name="AutoShape 11" id="11"/>
          <p:cNvSpPr/>
          <p:nvPr/>
        </p:nvSpPr>
        <p:spPr>
          <a:xfrm rot="0" flipH="false" flipV="false">
            <a:off x="4406900" y="2032000"/>
            <a:ext cx="3378200" cy="3556000"/>
          </a:xfrm>
          <a:prstGeom prst="roundRect">
            <a:avLst>
              <a:gd name="adj" fmla="val 0"/>
            </a:avLst>
          </a:prstGeom>
          <a:solidFill>
            <a:srgbClr val="FFFFFF">
              <a:alpha val="65000"/>
            </a:srgbClr>
          </a:solidFill>
          <a:ln w="12700" cmpd="sng" cap="flat">
            <a:solidFill>
              <a:srgbClr val="22D3EE">
                <a:alpha val="5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2286000"/>
            <a:ext cx="406400" cy="406400"/>
          </a:xfrm>
          <a:prstGeom prst="rect">
            <a:avLst/>
          </a:prstGeom>
        </p:spPr>
      </p:pic>
      <p:sp>
        <p:nvSpPr>
          <p:cNvPr name="AutoShape 13" id="13"/>
          <p:cNvSpPr/>
          <p:nvPr/>
        </p:nvSpPr>
        <p:spPr>
          <a:xfrm rot="0" flipH="false" flipV="false">
            <a:off x="5168900" y="22860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Kaggle Dataset Hunt</a:t>
            </a:r>
            <a:endParaRPr lang="en-US" sz="1100"/>
          </a:p>
        </p:txBody>
      </p:sp>
      <p:sp>
        <p:nvSpPr>
          <p:cNvPr name="AutoShape 14" id="14"/>
          <p:cNvSpPr/>
          <p:nvPr/>
        </p:nvSpPr>
        <p:spPr>
          <a:xfrm rot="0" flipH="false" flipV="false">
            <a:off x="6705600" y="2362200"/>
            <a:ext cx="825500" cy="254000"/>
          </a:xfrm>
          <a:prstGeom prst="roundRect">
            <a:avLst>
              <a:gd name="adj" fmla="val 0"/>
            </a:avLst>
          </a:prstGeom>
          <a:solidFill>
            <a:srgbClr val="F59E0B">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705600" y="2362200"/>
            <a:ext cx="8255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B45309"/>
                </a:solidFill>
                <a:latin typeface="微软雅黑"/>
                <a:ea typeface="微软雅黑"/>
                <a:cs typeface="微软雅黑"/>
                <a:sym typeface="微软雅黑"/>
              </a:rPr>
              <a:t>MEDIUM</a:t>
            </a:r>
            <a:endParaRPr lang="en-US" sz="1100"/>
          </a:p>
        </p:txBody>
      </p:sp>
      <p:cxnSp>
        <p:nvCxnSpPr>
          <p:cNvPr name="Connector 16" id="16"/>
          <p:cNvCxnSpPr/>
          <p:nvPr/>
        </p:nvCxnSpPr>
        <p:spPr>
          <a:xfrm rot="-15211" flipH="false" flipV="false">
            <a:off x="4660914" y="2914650"/>
            <a:ext cx="2870200" cy="12700"/>
          </a:xfrm>
          <a:prstGeom prst="straightConnector1">
            <a:avLst/>
          </a:prstGeom>
          <a:solidFill>
            <a:srgbClr val="DEE0E3">
              <a:alpha val="100000"/>
            </a:srgbClr>
          </a:solidFill>
          <a:ln w="12700" cmpd="sng" cap="flat">
            <a:solidFill>
              <a:srgbClr val="22D3EE">
                <a:alpha val="30000"/>
              </a:srgbClr>
            </a:solidFill>
            <a:prstDash val="solid"/>
            <a:round/>
            <a:headEnd type="none" w="med" len="med"/>
            <a:tailEnd type="none" w="med" len="med"/>
          </a:ln>
        </p:spPr>
      </p:cxnSp>
      <p:sp>
        <p:nvSpPr>
          <p:cNvPr name="AutoShape 17" id="17"/>
          <p:cNvSpPr/>
          <p:nvPr/>
        </p:nvSpPr>
        <p:spPr>
          <a:xfrm rot="0" flipH="false" flipV="false">
            <a:off x="4660900" y="3111500"/>
            <a:ext cx="28702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微软雅黑"/>
                <a:ea typeface="微软雅黑"/>
                <a:cs typeface="微软雅黑"/>
                <a:sym typeface="微软雅黑"/>
              </a:rPr>
              <a:t>1. Visit Kaggle Datasets and filter by your chosen domain.</a:t>
            </a:r>
            <a:r>
              <a:rPr lang="en-US" b="false" i="false" strike="noStrike" u="none" sz="1400">
                <a:solidFill>
                  <a:srgbClr val="374151"/>
                </a:solidFill>
                <a:latin typeface="微软雅黑"/>
                <a:ea typeface="微软雅黑"/>
                <a:cs typeface="微软雅黑"/>
                <a:sym typeface="微软雅黑"/>
              </a:rPr>
              <a:t/>
            </a:r>
            <a:endParaRPr lang="en-US" sz="1100"/>
          </a:p>
          <a:p>
            <a:pPr algn="l" marL="0" indent="0">
              <a:lnSpc>
                <a:spcPct val="125000"/>
              </a:lnSpc>
            </a:pPr>
            <a:r>
              <a:rPr lang="en-US" b="false" i="false" strike="noStrike" u="none" sz="1400">
                <a:solidFill>
                  <a:srgbClr val="374151"/>
                </a:solidFill>
                <a:latin typeface="微软雅黑"/>
                <a:ea typeface="微软雅黑"/>
                <a:cs typeface="微软雅黑"/>
                <a:sym typeface="微软雅黑"/>
              </a:rPr>
              <a:t>2. Select one intriguing dataset: Note its title and size.</a:t>
            </a:r>
            <a:r>
              <a:rPr lang="en-US" b="false" i="false" strike="noStrike" u="none" sz="1400">
                <a:solidFill>
                  <a:srgbClr val="374151"/>
                </a:solidFill>
                <a:latin typeface="微软雅黑"/>
                <a:ea typeface="微软雅黑"/>
                <a:cs typeface="微软雅黑"/>
                <a:sym typeface="微软雅黑"/>
              </a:rPr>
              <a:t/>
            </a:r>
          </a:p>
          <a:p>
            <a:pPr algn="l" marL="0" indent="0">
              <a:lnSpc>
                <a:spcPct val="125000"/>
              </a:lnSpc>
            </a:pPr>
            <a:r>
              <a:rPr lang="en-US" b="false" i="false" strike="noStrike" u="none" sz="1400">
                <a:solidFill>
                  <a:srgbClr val="374151"/>
                </a:solidFill>
                <a:latin typeface="微软雅黑"/>
                <a:ea typeface="微软雅黑"/>
                <a:cs typeface="微软雅黑"/>
                <a:sym typeface="微软雅黑"/>
              </a:rPr>
              <a:t>3. Analyze: What type of AI problem can it solve? (e.g., prediction, classification)</a:t>
            </a:r>
          </a:p>
        </p:txBody>
      </p:sp>
      <p:sp>
        <p:nvSpPr>
          <p:cNvPr name="AutoShape 18" id="18"/>
          <p:cNvSpPr/>
          <p:nvPr/>
        </p:nvSpPr>
        <p:spPr>
          <a:xfrm rot="0" flipH="false" flipV="false">
            <a:off x="8051800" y="2032000"/>
            <a:ext cx="3378200" cy="3556000"/>
          </a:xfrm>
          <a:prstGeom prst="roundRect">
            <a:avLst>
              <a:gd name="adj" fmla="val 0"/>
            </a:avLst>
          </a:prstGeom>
          <a:solidFill>
            <a:srgbClr val="FFFFFF">
              <a:alpha val="65000"/>
            </a:srgbClr>
          </a:solidFill>
          <a:ln w="12700" cmpd="sng" cap="flat">
            <a:solidFill>
              <a:srgbClr val="22D3EE">
                <a:alpha val="5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2286000"/>
            <a:ext cx="406400" cy="406400"/>
          </a:xfrm>
          <a:prstGeom prst="rect">
            <a:avLst/>
          </a:prstGeom>
        </p:spPr>
      </p:pic>
      <p:sp>
        <p:nvSpPr>
          <p:cNvPr name="AutoShape 20" id="20"/>
          <p:cNvSpPr/>
          <p:nvPr/>
        </p:nvSpPr>
        <p:spPr>
          <a:xfrm rot="0" flipH="false" flipV="false">
            <a:off x="8813800" y="22860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Research Question</a:t>
            </a:r>
            <a:endParaRPr lang="en-US" sz="1100"/>
          </a:p>
        </p:txBody>
      </p:sp>
      <p:sp>
        <p:nvSpPr>
          <p:cNvPr name="AutoShape 21" id="21"/>
          <p:cNvSpPr/>
          <p:nvPr/>
        </p:nvSpPr>
        <p:spPr>
          <a:xfrm rot="0" flipH="false" flipV="false">
            <a:off x="10223500" y="2362200"/>
            <a:ext cx="952500" cy="254000"/>
          </a:xfrm>
          <a:prstGeom prst="roundRect">
            <a:avLst>
              <a:gd name="adj" fmla="val 0"/>
            </a:avLst>
          </a:prstGeom>
          <a:solidFill>
            <a:srgbClr val="EF4444">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10223500" y="2362200"/>
            <a:ext cx="9525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B91C1C"/>
                </a:solidFill>
                <a:latin typeface="微软雅黑"/>
                <a:ea typeface="微软雅黑"/>
                <a:cs typeface="微软雅黑"/>
                <a:sym typeface="微软雅黑"/>
              </a:rPr>
              <a:t>CHALLENGE</a:t>
            </a:r>
            <a:endParaRPr lang="en-US" sz="1100"/>
          </a:p>
        </p:txBody>
      </p:sp>
      <p:cxnSp>
        <p:nvCxnSpPr>
          <p:cNvPr name="Connector 23" id="23"/>
          <p:cNvCxnSpPr/>
          <p:nvPr/>
        </p:nvCxnSpPr>
        <p:spPr>
          <a:xfrm rot="-15211" flipH="false" flipV="false">
            <a:off x="8305814" y="2914650"/>
            <a:ext cx="2870200" cy="12700"/>
          </a:xfrm>
          <a:prstGeom prst="straightConnector1">
            <a:avLst/>
          </a:prstGeom>
          <a:solidFill>
            <a:srgbClr val="DEE0E3">
              <a:alpha val="100000"/>
            </a:srgbClr>
          </a:solidFill>
          <a:ln w="12700" cmpd="sng" cap="flat">
            <a:solidFill>
              <a:srgbClr val="22D3EE">
                <a:alpha val="30000"/>
              </a:srgbClr>
            </a:solidFill>
            <a:prstDash val="solid"/>
            <a:round/>
            <a:headEnd type="none" w="med" len="med"/>
            <a:tailEnd type="none" w="med" len="med"/>
          </a:ln>
        </p:spPr>
      </p:cxnSp>
      <p:sp>
        <p:nvSpPr>
          <p:cNvPr name="AutoShape 24" id="24"/>
          <p:cNvSpPr/>
          <p:nvPr/>
        </p:nvSpPr>
        <p:spPr>
          <a:xfrm rot="0" flipH="false" flipV="false">
            <a:off x="8305800" y="3111500"/>
            <a:ext cx="28702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151"/>
                </a:solidFill>
                <a:latin typeface="微软雅黑"/>
                <a:ea typeface="微软雅黑"/>
                <a:cs typeface="微软雅黑"/>
                <a:sym typeface="微软雅黑"/>
              </a:rPr>
              <a:t>1. Using your selected dataset, craft a specific, measurable research question.</a:t>
            </a:r>
            <a:r>
              <a:rPr lang="en-US" b="false" i="false" strike="noStrike" u="none" sz="1400">
                <a:solidFill>
                  <a:srgbClr val="374151"/>
                </a:solidFill>
                <a:latin typeface="微软雅黑"/>
                <a:ea typeface="微软雅黑"/>
                <a:cs typeface="微软雅黑"/>
                <a:sym typeface="微软雅黑"/>
              </a:rPr>
              <a:t/>
            </a:r>
            <a:endParaRPr lang="en-US" sz="1100"/>
          </a:p>
          <a:p>
            <a:pPr algn="l" marL="0" indent="0">
              <a:lnSpc>
                <a:spcPct val="125000"/>
              </a:lnSpc>
            </a:pPr>
            <a:r>
              <a:rPr lang="en-US" b="false" i="false" strike="noStrike" u="none" sz="1400">
                <a:solidFill>
                  <a:srgbClr val="374151"/>
                </a:solidFill>
                <a:latin typeface="微软雅黑"/>
                <a:ea typeface="微软雅黑"/>
                <a:cs typeface="微软雅黑"/>
                <a:sym typeface="微软雅黑"/>
              </a:rPr>
              <a:t>2. Ensure it is answerable with the data provided.</a:t>
            </a:r>
            <a:r>
              <a:rPr lang="en-US" b="false" i="false" strike="noStrike" u="none" sz="1400">
                <a:solidFill>
                  <a:srgbClr val="374151"/>
                </a:solidFill>
                <a:latin typeface="微软雅黑"/>
                <a:ea typeface="微软雅黑"/>
                <a:cs typeface="微软雅黑"/>
                <a:sym typeface="微软雅黑"/>
              </a:rPr>
              <a:t/>
            </a:r>
          </a:p>
          <a:p>
            <a:pPr algn="l" marL="0" indent="0">
              <a:lnSpc>
                <a:spcPct val="125000"/>
              </a:lnSpc>
            </a:pPr>
            <a:r>
              <a:rPr lang="en-US" b="false" i="false" strike="noStrike" u="none" sz="1400">
                <a:solidFill>
                  <a:srgbClr val="374151"/>
                </a:solidFill>
                <a:latin typeface="微软雅黑"/>
                <a:ea typeface="微软雅黑"/>
                <a:cs typeface="微软雅黑"/>
                <a:sym typeface="微软雅黑"/>
              </a:rPr>
              <a:t>3. Write down a 2-step plan to investigate this question.</a:t>
            </a:r>
          </a:p>
        </p:txBody>
      </p:sp>
      <p:sp>
        <p:nvSpPr>
          <p:cNvPr name="AutoShape 25" id="25"/>
          <p:cNvSpPr/>
          <p:nvPr/>
        </p:nvSpPr>
        <p:spPr>
          <a:xfrm rot="0" flipH="false" flipV="false">
            <a:off x="762000" y="59055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500">
                <a:solidFill>
                  <a:srgbClr val="4B5563"/>
                </a:solidFill>
                <a:latin typeface="微软雅黑"/>
                <a:ea typeface="微软雅黑"/>
                <a:cs typeface="微软雅黑"/>
                <a:sym typeface="微软雅黑"/>
              </a:rPr>
              <a:t>Remember:</a:t>
            </a:r>
            <a:r>
              <a:rPr lang="en-US" b="false" i="false" strike="noStrike" u="none" sz="1500">
                <a:solidFill>
                  <a:srgbClr val="4B5563"/>
                </a:solidFill>
                <a:latin typeface="微软雅黑"/>
                <a:ea typeface="微软雅黑"/>
                <a:cs typeface="微软雅黑"/>
                <a:sym typeface="微软雅黑"/>
              </a:rPr>
              <a:t>The goal is to move from passive learning to active creation — these exercises bridge the gap between theory and practice.</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Chapter 1 Recap</a:t>
            </a:r>
            <a:endParaRPr lang="en-US" sz="1100"/>
          </a:p>
        </p:txBody>
      </p:sp>
      <p:sp>
        <p:nvSpPr>
          <p:cNvPr name="AutoShape 4" id="4"/>
          <p:cNvSpPr/>
          <p:nvPr/>
        </p:nvSpPr>
        <p:spPr>
          <a:xfrm rot="0" flipH="false" flipV="false">
            <a:off x="762000" y="1778000"/>
            <a:ext cx="3378200" cy="19685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65200" y="1981200"/>
            <a:ext cx="304800" cy="304800"/>
          </a:xfrm>
          <a:prstGeom prst="rect">
            <a:avLst/>
          </a:prstGeom>
        </p:spPr>
      </p:pic>
      <p:sp>
        <p:nvSpPr>
          <p:cNvPr name="AutoShape 6" id="6"/>
          <p:cNvSpPr/>
          <p:nvPr/>
        </p:nvSpPr>
        <p:spPr>
          <a:xfrm rot="0" flipH="false" flipV="false">
            <a:off x="1371600" y="19558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AI ⊃ ML ⊃ DL</a:t>
            </a:r>
            <a:endParaRPr lang="en-US" sz="1100"/>
          </a:p>
        </p:txBody>
      </p:sp>
      <p:sp>
        <p:nvSpPr>
          <p:cNvPr name="AutoShape 7" id="7"/>
          <p:cNvSpPr/>
          <p:nvPr/>
        </p:nvSpPr>
        <p:spPr>
          <a:xfrm rot="0" flipH="false" flipV="false">
            <a:off x="965200" y="2438400"/>
            <a:ext cx="29718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Grasp the hierarchical relationship: Artificial Intelligence encompasses Machine Learning, which in turn includes Deep Learning as its specialized subset.</a:t>
            </a:r>
            <a:endParaRPr lang="en-US" sz="1100"/>
          </a:p>
        </p:txBody>
      </p:sp>
      <p:sp>
        <p:nvSpPr>
          <p:cNvPr name="AutoShape 8" id="8"/>
          <p:cNvSpPr/>
          <p:nvPr/>
        </p:nvSpPr>
        <p:spPr>
          <a:xfrm rot="0" flipH="false" flipV="false">
            <a:off x="4406900" y="1778000"/>
            <a:ext cx="3378200" cy="19685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10100" y="1981200"/>
            <a:ext cx="304800" cy="304800"/>
          </a:xfrm>
          <a:prstGeom prst="rect">
            <a:avLst/>
          </a:prstGeom>
        </p:spPr>
      </p:pic>
      <p:sp>
        <p:nvSpPr>
          <p:cNvPr name="AutoShape 10" id="10"/>
          <p:cNvSpPr/>
          <p:nvPr/>
        </p:nvSpPr>
        <p:spPr>
          <a:xfrm rot="0" flipH="false" flipV="false">
            <a:off x="5016500" y="19558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AI is Everywhere</a:t>
            </a:r>
            <a:endParaRPr lang="en-US" sz="1100"/>
          </a:p>
        </p:txBody>
      </p:sp>
      <p:sp>
        <p:nvSpPr>
          <p:cNvPr name="AutoShape 11" id="11"/>
          <p:cNvSpPr/>
          <p:nvPr/>
        </p:nvSpPr>
        <p:spPr>
          <a:xfrm rot="0" flipH="false" flipV="false">
            <a:off x="4610100" y="2438400"/>
            <a:ext cx="29718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From streaming recommendations and medical diagnostics to fraud detection and self-driving cars, AI is deeply embedded in modern life.</a:t>
            </a:r>
            <a:endParaRPr lang="en-US" sz="1100"/>
          </a:p>
        </p:txBody>
      </p:sp>
      <p:sp>
        <p:nvSpPr>
          <p:cNvPr name="AutoShape 12" id="12"/>
          <p:cNvSpPr/>
          <p:nvPr/>
        </p:nvSpPr>
        <p:spPr>
          <a:xfrm rot="0" flipH="false" flipV="false">
            <a:off x="8051800" y="1778000"/>
            <a:ext cx="3378200" cy="19685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1981200"/>
            <a:ext cx="304800" cy="304800"/>
          </a:xfrm>
          <a:prstGeom prst="rect">
            <a:avLst/>
          </a:prstGeom>
        </p:spPr>
      </p:pic>
      <p:sp>
        <p:nvSpPr>
          <p:cNvPr name="AutoShape 14" id="14"/>
          <p:cNvSpPr/>
          <p:nvPr/>
        </p:nvSpPr>
        <p:spPr>
          <a:xfrm rot="0" flipH="false" flipV="false">
            <a:off x="8661400" y="19558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Perception is Key</a:t>
            </a:r>
            <a:endParaRPr lang="en-US" sz="1100"/>
          </a:p>
        </p:txBody>
      </p:sp>
      <p:sp>
        <p:nvSpPr>
          <p:cNvPr name="AutoShape 15" id="15"/>
          <p:cNvSpPr/>
          <p:nvPr/>
        </p:nvSpPr>
        <p:spPr>
          <a:xfrm rot="0" flipH="false" flipV="false">
            <a:off x="8255000" y="2438400"/>
            <a:ext cx="29718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Teaching machines to interpret the world visually—like cars 'seeing' the road—is the cornerstone of autonomous systems and computer vision.</a:t>
            </a:r>
            <a:endParaRPr lang="en-US" sz="1100"/>
          </a:p>
        </p:txBody>
      </p:sp>
      <p:sp>
        <p:nvSpPr>
          <p:cNvPr name="AutoShape 16" id="16"/>
          <p:cNvSpPr/>
          <p:nvPr/>
        </p:nvSpPr>
        <p:spPr>
          <a:xfrm rot="0" flipH="false" flipV="false">
            <a:off x="762000" y="4191000"/>
            <a:ext cx="5308600" cy="19685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65200" y="4394200"/>
            <a:ext cx="304800" cy="304800"/>
          </a:xfrm>
          <a:prstGeom prst="rect">
            <a:avLst/>
          </a:prstGeom>
        </p:spPr>
      </p:pic>
      <p:sp>
        <p:nvSpPr>
          <p:cNvPr name="AutoShape 18" id="18"/>
          <p:cNvSpPr/>
          <p:nvPr/>
        </p:nvSpPr>
        <p:spPr>
          <a:xfrm rot="0" flipH="false" flipV="false">
            <a:off x="1371600" y="4368800"/>
            <a:ext cx="457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Input, Output, Success</a:t>
            </a:r>
            <a:endParaRPr lang="en-US" sz="1100"/>
          </a:p>
        </p:txBody>
      </p:sp>
      <p:sp>
        <p:nvSpPr>
          <p:cNvPr name="AutoShape 19" id="19"/>
          <p:cNvSpPr/>
          <p:nvPr/>
        </p:nvSpPr>
        <p:spPr>
          <a:xfrm rot="0" flipH="false" flipV="false">
            <a:off x="965200" y="4851400"/>
            <a:ext cx="4902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Frame every AI problem by defining three core elements: the raw data input, the desired model output, and the measurable metrics that define success.</a:t>
            </a:r>
            <a:endParaRPr lang="en-US" sz="1100"/>
          </a:p>
        </p:txBody>
      </p:sp>
      <p:sp>
        <p:nvSpPr>
          <p:cNvPr name="AutoShape 20" id="20"/>
          <p:cNvSpPr/>
          <p:nvPr/>
        </p:nvSpPr>
        <p:spPr>
          <a:xfrm rot="0" flipH="false" flipV="false">
            <a:off x="6324600" y="4191000"/>
            <a:ext cx="5308600" cy="1968500"/>
          </a:xfrm>
          <a:prstGeom prst="roundRect">
            <a:avLst>
              <a:gd name="adj" fmla="val 0"/>
            </a:avLst>
          </a:prstGeom>
          <a:solidFill>
            <a:srgbClr val="FFFFFF">
              <a:alpha val="5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527800" y="4394200"/>
            <a:ext cx="304800" cy="304800"/>
          </a:xfrm>
          <a:prstGeom prst="rect">
            <a:avLst/>
          </a:prstGeom>
        </p:spPr>
      </p:pic>
      <p:sp>
        <p:nvSpPr>
          <p:cNvPr name="AutoShape 22" id="22"/>
          <p:cNvSpPr/>
          <p:nvPr/>
        </p:nvSpPr>
        <p:spPr>
          <a:xfrm rot="0" flipH="false" flipV="false">
            <a:off x="6934200" y="4368800"/>
            <a:ext cx="457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AI is a Research Tool</a:t>
            </a:r>
            <a:endParaRPr lang="en-US" sz="1100"/>
          </a:p>
        </p:txBody>
      </p:sp>
      <p:sp>
        <p:nvSpPr>
          <p:cNvPr name="AutoShape 23" id="23"/>
          <p:cNvSpPr/>
          <p:nvPr/>
        </p:nvSpPr>
        <p:spPr>
          <a:xfrm rot="0" flipH="false" flipV="false">
            <a:off x="6527800" y="4851400"/>
            <a:ext cx="4902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微软雅黑"/>
                <a:ea typeface="微软雅黑"/>
                <a:cs typeface="微软雅黑"/>
                <a:sym typeface="微软雅黑"/>
              </a:rPr>
              <a:t>Use AI like a scientist uses a microscope: not just as a technology, but as an instrument for discovery, exploration, and gaining new insights across disciplines.</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微软雅黑"/>
                <a:ea typeface="微软雅黑"/>
                <a:cs typeface="微软雅黑"/>
                <a:sym typeface="微软雅黑"/>
              </a:rPr>
              <a:t>What's Next? Looking Ahead to Chapter 2</a:t>
            </a:r>
            <a:endParaRPr lang="en-US" sz="1100"/>
          </a:p>
        </p:txBody>
      </p:sp>
      <p:sp>
        <p:nvSpPr>
          <p:cNvPr name="AutoShape 4" id="4"/>
          <p:cNvSpPr/>
          <p:nvPr/>
        </p:nvSpPr>
        <p:spPr>
          <a:xfrm rot="0" flipH="false" flipV="false">
            <a:off x="762000" y="1905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151"/>
                </a:solidFill>
                <a:latin typeface="微软雅黑"/>
                <a:ea typeface="微软雅黑"/>
                <a:cs typeface="微软雅黑"/>
                <a:sym typeface="微软雅黑"/>
              </a:rPr>
              <a:t>In Chapter 2, we will learn how to transform a vague curiosity into a sharp, answerable research question—the critical foundation that shapes the entire trajectory of an AI investigation.</a:t>
            </a:r>
            <a:endParaRPr lang="en-US" sz="1100"/>
          </a:p>
        </p:txBody>
      </p:sp>
      <p:sp>
        <p:nvSpPr>
          <p:cNvPr name="AutoShape 5" id="5"/>
          <p:cNvSpPr/>
          <p:nvPr/>
        </p:nvSpPr>
        <p:spPr>
          <a:xfrm rot="0" flipH="false" flipV="false">
            <a:off x="762000" y="3048000"/>
            <a:ext cx="3378200" cy="2095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302000"/>
            <a:ext cx="355600" cy="355600"/>
          </a:xfrm>
          <a:prstGeom prst="rect">
            <a:avLst/>
          </a:prstGeom>
        </p:spPr>
      </p:pic>
      <p:sp>
        <p:nvSpPr>
          <p:cNvPr name="AutoShape 7" id="7"/>
          <p:cNvSpPr/>
          <p:nvPr/>
        </p:nvSpPr>
        <p:spPr>
          <a:xfrm rot="0" flipH="false" flipV="false">
            <a:off x="1460500" y="32766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Evaluate Question Quality</a:t>
            </a:r>
            <a:endParaRPr lang="en-US" sz="1100"/>
          </a:p>
        </p:txBody>
      </p:sp>
      <p:sp>
        <p:nvSpPr>
          <p:cNvPr name="AutoShape 8" id="8"/>
          <p:cNvSpPr/>
          <p:nvPr/>
        </p:nvSpPr>
        <p:spPr>
          <a:xfrm rot="0" flipH="false" flipV="false">
            <a:off x="1016000" y="3810000"/>
            <a:ext cx="2870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微软雅黑"/>
                <a:ea typeface="微软雅黑"/>
                <a:cs typeface="微软雅黑"/>
                <a:sym typeface="微软雅黑"/>
              </a:rPr>
              <a:t>Learn to differentiate between overly broad, unanswerable questions and focused, specific ones that are feasible for AI research.</a:t>
            </a:r>
            <a:endParaRPr lang="en-US" sz="1100"/>
          </a:p>
        </p:txBody>
      </p:sp>
      <p:sp>
        <p:nvSpPr>
          <p:cNvPr name="AutoShape 9" id="9"/>
          <p:cNvSpPr/>
          <p:nvPr/>
        </p:nvSpPr>
        <p:spPr>
          <a:xfrm rot="0" flipH="false" flipV="false">
            <a:off x="4406900" y="3048000"/>
            <a:ext cx="3378200" cy="2095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3302000"/>
            <a:ext cx="355600" cy="355600"/>
          </a:xfrm>
          <a:prstGeom prst="rect">
            <a:avLst/>
          </a:prstGeom>
        </p:spPr>
      </p:pic>
      <p:sp>
        <p:nvSpPr>
          <p:cNvPr name="AutoShape 11" id="11"/>
          <p:cNvSpPr/>
          <p:nvPr/>
        </p:nvSpPr>
        <p:spPr>
          <a:xfrm rot="0" flipH="false" flipV="false">
            <a:off x="5105400" y="32766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Master the Question Ladder</a:t>
            </a:r>
            <a:endParaRPr lang="en-US" sz="1100"/>
          </a:p>
        </p:txBody>
      </p:sp>
      <p:sp>
        <p:nvSpPr>
          <p:cNvPr name="AutoShape 12" id="12"/>
          <p:cNvSpPr/>
          <p:nvPr/>
        </p:nvSpPr>
        <p:spPr>
          <a:xfrm rot="0" flipH="false" flipV="false">
            <a:off x="4660900" y="3810000"/>
            <a:ext cx="2870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微软雅黑"/>
                <a:ea typeface="微软雅黑"/>
                <a:cs typeface="微软雅黑"/>
                <a:sym typeface="微软雅黑"/>
              </a:rPr>
              <a:t>Climb from simple factual queries to medium interpretive questions, and finally to strong, analytical questions that drive discovery.</a:t>
            </a:r>
            <a:endParaRPr lang="en-US" sz="1100"/>
          </a:p>
        </p:txBody>
      </p:sp>
      <p:sp>
        <p:nvSpPr>
          <p:cNvPr name="AutoShape 13" id="13"/>
          <p:cNvSpPr/>
          <p:nvPr/>
        </p:nvSpPr>
        <p:spPr>
          <a:xfrm rot="0" flipH="false" flipV="false">
            <a:off x="8051800" y="3048000"/>
            <a:ext cx="3378200" cy="2095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3302000"/>
            <a:ext cx="355600" cy="355600"/>
          </a:xfrm>
          <a:prstGeom prst="rect">
            <a:avLst/>
          </a:prstGeom>
        </p:spPr>
      </p:pic>
      <p:sp>
        <p:nvSpPr>
          <p:cNvPr name="AutoShape 15" id="15"/>
          <p:cNvSpPr/>
          <p:nvPr/>
        </p:nvSpPr>
        <p:spPr>
          <a:xfrm rot="0" flipH="false" flipV="false">
            <a:off x="8750300" y="32766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微软雅黑"/>
                <a:ea typeface="微软雅黑"/>
                <a:cs typeface="微软雅黑"/>
                <a:sym typeface="微软雅黑"/>
              </a:rPr>
              <a:t>Craft Your Own Questions</a:t>
            </a:r>
            <a:endParaRPr lang="en-US" sz="1100"/>
          </a:p>
        </p:txBody>
      </p:sp>
      <p:sp>
        <p:nvSpPr>
          <p:cNvPr name="AutoShape 16" id="16"/>
          <p:cNvSpPr/>
          <p:nvPr/>
        </p:nvSpPr>
        <p:spPr>
          <a:xfrm rot="0" flipH="false" flipV="false">
            <a:off x="8305800" y="3810000"/>
            <a:ext cx="2870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B5563"/>
                </a:solidFill>
                <a:latin typeface="微软雅黑"/>
                <a:ea typeface="微软雅黑"/>
                <a:cs typeface="微软雅黑"/>
                <a:sym typeface="微软雅黑"/>
              </a:rPr>
              <a:t>Apply the framework through hands-on exercises to draft and refine your own research questions for AI applications.</a:t>
            </a:r>
            <a:endParaRPr lang="en-US" sz="1100"/>
          </a:p>
        </p:txBody>
      </p:sp>
      <p:sp>
        <p:nvSpPr>
          <p:cNvPr name="AutoShape 17" id="17"/>
          <p:cNvSpPr/>
          <p:nvPr/>
        </p:nvSpPr>
        <p:spPr>
          <a:xfrm rot="0" flipH="false" flipV="false">
            <a:off x="762000" y="5397500"/>
            <a:ext cx="10668000" cy="952500"/>
          </a:xfrm>
          <a:prstGeom prst="roundRect">
            <a:avLst>
              <a:gd name="adj" fmla="val 0"/>
            </a:avLst>
          </a:prstGeom>
          <a:solidFill>
            <a:srgbClr val="22D3EE">
              <a:alpha val="12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55626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1F2937"/>
                </a:solidFill>
                <a:latin typeface="微软雅黑"/>
                <a:ea typeface="微软雅黑"/>
                <a:cs typeface="微软雅黑"/>
                <a:sym typeface="微软雅黑"/>
              </a:rPr>
              <a:t>💡 Key Takeaway: A well-formed research question is the single most important determinant of success in AI research. It defines your scope, methodology, and the value of your findings.</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286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微软雅黑"/>
                <a:ea typeface="微软雅黑"/>
                <a:cs typeface="微软雅黑"/>
                <a:sym typeface="微软雅黑"/>
              </a:rPr>
              <a:t>Questions &amp; Discussion</a:t>
            </a:r>
            <a:endParaRPr lang="en-US" sz="1100"/>
          </a:p>
        </p:txBody>
      </p:sp>
      <p:sp>
        <p:nvSpPr>
          <p:cNvPr name="AutoShape 4" id="4"/>
          <p:cNvSpPr/>
          <p:nvPr/>
        </p:nvSpPr>
        <p:spPr>
          <a:xfrm rot="0" flipH="false" flipV="false">
            <a:off x="0" y="3810000"/>
            <a:ext cx="12192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7200">
                <a:solidFill>
                  <a:srgbClr val="22D3EE"/>
                </a:solidFill>
                <a:latin typeface="微软雅黑"/>
                <a:ea typeface="微软雅黑"/>
                <a:cs typeface="微软雅黑"/>
                <a:sym typeface="微软雅黑"/>
              </a:rPr>
              <a:t>Thank You!</a:t>
            </a:r>
            <a:endParaRPr lang="en-US" sz="1100"/>
          </a:p>
        </p:txBody>
      </p:sp>
      <p:sp>
        <p:nvSpPr>
          <p:cNvPr name="AutoShape 5" id="5"/>
          <p:cNvSpPr/>
          <p:nvPr/>
        </p:nvSpPr>
        <p:spPr>
          <a:xfrm rot="0" flipH="false" flipV="false">
            <a:off x="0" y="56515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spc="300">
                <a:solidFill>
                  <a:srgbClr val="FFFFFF">
                    <a:alpha val="70196"/>
                  </a:srgbClr>
                </a:solidFill>
                <a:latin typeface="微软雅黑"/>
                <a:ea typeface="微软雅黑"/>
                <a:cs typeface="微软雅黑"/>
                <a:sym typeface="微软雅黑"/>
              </a:rPr>
              <a:t>—— 探索新知，启迪未来 ——</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{"Label":"1","ContentProducer":"001191110102MACQD9K64010000","ProduceID":"7666072854044593331","ReservedCode1":"","ContentPropagator":"","PropagateID":"","ReservedCode2":""}</vt:lpwstr>
  </property>
</Properties>
</file>